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996696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BCD3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Gestão e Requisição de Frota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22960" y="2852928"/>
            <a:ext cx="3931920" cy="64008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3172968"/>
            <a:ext cx="8229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em Sistemas de Informação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2104" y="3675888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D0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TeSP Programação de Sistemas de Informação  |  2.º ano, 1.º semestre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2104" y="60533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Vitor Emanuel Louro Leonardo  •  Valter José Pescadinha Beca  •  Gustavo Biazini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problema a resolver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Situação atual e oportunidade de digitalização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12648" y="1417320"/>
            <a:ext cx="3456432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417320"/>
            <a:ext cx="59436" cy="3246120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56362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informais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" y="2002536"/>
            <a:ext cx="309067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Requisições por telefone, email ou papel dificultam a organização e o acompanhamento.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61688" y="1417320"/>
            <a:ext cx="3456432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1417320"/>
            <a:ext cx="59436" cy="3246120"/>
          </a:xfrm>
          <a:prstGeom prst="rect">
            <a:avLst/>
          </a:prstGeom>
          <a:solidFill>
            <a:srgbClr val="F0AE36"/>
          </a:solidFill>
          <a:ln w="7620">
            <a:solidFill>
              <a:srgbClr val="F0AE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44568" y="156362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Conflitos de disponibilidade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44568" y="2002536"/>
            <a:ext cx="309067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 de pedidos sobrepostos e falta de visibilidade sobre as viaturas livres.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1584" y="1417320"/>
            <a:ext cx="3456432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17320"/>
            <a:ext cx="59436" cy="3246120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156362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Informação dispersa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84464" y="2002536"/>
            <a:ext cx="309067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Quilómetros, combustível, manutenção e documentos são difíceis de consultar em conjunto.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60704" y="5093208"/>
            <a:ext cx="10058400" cy="960120"/>
          </a:xfrm>
          <a:prstGeom prst="roundRect">
            <a:avLst>
              <a:gd name="adj" fmla="val 19048"/>
            </a:avLst>
          </a:prstGeom>
          <a:solidFill>
            <a:srgbClr val="10243A"/>
          </a:solidFill>
          <a:ln w="7620">
            <a:solidFill>
              <a:srgbClr val="1024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44168" y="5312664"/>
            <a:ext cx="9418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Proposta: centralizar todo o ciclo de utilização da frota numa única plataforma.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solução FrotaGest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plataforma integrada para gerir viaturas, pessoas e viagens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pic>
        <p:nvPicPr>
          <p:cNvPr id="8" name="Image 0" descr="/mnt/data/frotagest_assets/hom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86400" cy="45537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435608"/>
            <a:ext cx="5093208" cy="1024128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435608"/>
            <a:ext cx="59436" cy="1024128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1581912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83680" y="2020824"/>
            <a:ext cx="4727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viaturas e solicitar períodos de utilização.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2679192"/>
            <a:ext cx="5093208" cy="1024128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0" y="2679192"/>
            <a:ext cx="59436" cy="1024128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2825496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e atribuir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583680" y="3264408"/>
            <a:ext cx="4727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Aprovar pedidos e selecionar condutor e viatura disponível.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0" y="3922776"/>
            <a:ext cx="5093208" cy="1024128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0" y="3922776"/>
            <a:ext cx="59436" cy="1024128"/>
          </a:xfrm>
          <a:prstGeom prst="rect">
            <a:avLst/>
          </a:prstGeom>
          <a:solidFill>
            <a:srgbClr val="F0AE36"/>
          </a:solidFill>
          <a:ln w="7620">
            <a:solidFill>
              <a:srgbClr val="F0AE3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0" y="4069080"/>
            <a:ext cx="4727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Acompanhar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83680" y="4507992"/>
            <a:ext cx="4727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Registar viagens, custos, documentos e manutenção.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Quem utiliza o sistema?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Quatro perfis, com responsabilidades e permissões distintas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453896"/>
            <a:ext cx="5303520" cy="1892808"/>
          </a:xfrm>
          <a:prstGeom prst="roundRect">
            <a:avLst>
              <a:gd name="adj" fmla="val 6280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453896"/>
            <a:ext cx="59436" cy="1892808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6002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Colaborador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" y="203911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o catálogo, requisita viaturas e regista receção, entrega, quilómetros e combustível.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453896"/>
            <a:ext cx="5303520" cy="1892808"/>
          </a:xfrm>
          <a:prstGeom prst="roundRect">
            <a:avLst>
              <a:gd name="adj" fmla="val 6280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453896"/>
            <a:ext cx="59436" cy="1892808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6002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Coordenador de Frota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203911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 pedidos, atribui viaturas e condutores e acompanha utilização, documentação e orçamentos.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630168"/>
            <a:ext cx="5303520" cy="1892808"/>
          </a:xfrm>
          <a:prstGeom prst="roundRect">
            <a:avLst>
              <a:gd name="adj" fmla="val 6280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630168"/>
            <a:ext cx="59436" cy="1892808"/>
          </a:xfrm>
          <a:prstGeom prst="rect">
            <a:avLst/>
          </a:prstGeom>
          <a:solidFill>
            <a:srgbClr val="F0AE36"/>
          </a:solidFill>
          <a:ln w="7620">
            <a:solidFill>
              <a:srgbClr val="F0AE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7764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Técnico de Manutenção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" y="4215384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Regista intervenções, peças, custos e histórico de manutenção.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630168"/>
            <a:ext cx="5303520" cy="1892808"/>
          </a:xfrm>
          <a:prstGeom prst="roundRect">
            <a:avLst>
              <a:gd name="adj" fmla="val 6280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630168"/>
            <a:ext cx="59436" cy="1892808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7764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Administrador de Sistemas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0" y="4215384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Gere utilizadores, roles, permissões, serviços externos e logs.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funciona uma requisição?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pedido à conclusão da viagem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12064" y="1920240"/>
            <a:ext cx="2148840" cy="1993392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1618488"/>
            <a:ext cx="722376" cy="722376"/>
          </a:xfrm>
          <a:prstGeom prst="roundRect">
            <a:avLst>
              <a:gd name="adj" fmla="val 45570"/>
            </a:avLst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173736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58368" y="2514600"/>
            <a:ext cx="1865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Pesquisar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7512" y="301752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Viaturas e datas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52928" y="1920240"/>
            <a:ext cx="2148840" cy="1993392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618488"/>
            <a:ext cx="722376" cy="722376"/>
          </a:xfrm>
          <a:prstGeom prst="roundRect">
            <a:avLst>
              <a:gd name="adj" fmla="val 45570"/>
            </a:avLst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73736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999232" y="2514600"/>
            <a:ext cx="1865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Requisitar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008376" y="301752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Categoria e motivo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93792" y="1920240"/>
            <a:ext cx="2148840" cy="1993392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07024" y="1618488"/>
            <a:ext cx="722376" cy="722376"/>
          </a:xfrm>
          <a:prstGeom prst="roundRect">
            <a:avLst>
              <a:gd name="adj" fmla="val 45570"/>
            </a:avLst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07024" y="173736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5340096" y="2514600"/>
            <a:ext cx="1865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349240" y="301752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Aprovação e atribuição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34656" y="1920240"/>
            <a:ext cx="2148840" cy="1993392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47888" y="1618488"/>
            <a:ext cx="722376" cy="722376"/>
          </a:xfrm>
          <a:prstGeom prst="roundRect">
            <a:avLst>
              <a:gd name="adj" fmla="val 45570"/>
            </a:avLst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173736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7680960" y="2514600"/>
            <a:ext cx="1865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Utilizar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690104" y="301752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QR, check-in e viagem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875520" y="1920240"/>
            <a:ext cx="2148840" cy="1993392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88752" y="1618488"/>
            <a:ext cx="722376" cy="722376"/>
          </a:xfrm>
          <a:prstGeom prst="roundRect">
            <a:avLst>
              <a:gd name="adj" fmla="val 45570"/>
            </a:avLst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88752" y="1737360"/>
            <a:ext cx="722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10021824" y="2514600"/>
            <a:ext cx="1865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Devolver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10030968" y="301752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Check-out e histórico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78408" y="4681728"/>
            <a:ext cx="10332720" cy="777240"/>
          </a:xfrm>
          <a:prstGeom prst="roundRect">
            <a:avLst>
              <a:gd name="adj" fmla="val 1411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33856" y="4901184"/>
            <a:ext cx="10012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Estados previstos: pendente → aprovada / recusada → em curso → concluída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Web — catálogo de viaturas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Consulta, filtros e calendário de disponibilidade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pic>
        <p:nvPicPr>
          <p:cNvPr id="8" name="Image 0" descr="/mnt/data/frotagest_assets/mockup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492240" cy="4343400"/>
          </a:xfrm>
          <a:prstGeom prst="rect">
            <a:avLst/>
          </a:prstGeom>
        </p:spPr>
      </p:pic>
      <p:pic>
        <p:nvPicPr>
          <p:cNvPr id="9" name="Image 1" descr="/mnt/data/frotagest_assets/mockup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184" y="1417320"/>
            <a:ext cx="4443984" cy="4343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77240" y="5815584"/>
            <a:ext cx="1371600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" y="5847588"/>
            <a:ext cx="118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543800" y="5815584"/>
            <a:ext cx="2542032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35240" y="5847588"/>
            <a:ext cx="23591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DETALHE E CALENDÁRIO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Web — pedido e acompanhamento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 requisição, validações e histórico individual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pic>
        <p:nvPicPr>
          <p:cNvPr id="8" name="Image 0" descr="/mnt/data/frotagest_assets/mockup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17320"/>
            <a:ext cx="5513832" cy="4389120"/>
          </a:xfrm>
          <a:prstGeom prst="rect">
            <a:avLst/>
          </a:prstGeom>
        </p:spPr>
      </p:pic>
      <p:pic>
        <p:nvPicPr>
          <p:cNvPr id="9" name="Image 1" descr="/mnt/data/frotagest_assets/mockup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417320"/>
            <a:ext cx="5257800" cy="43891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0664" y="5797296"/>
            <a:ext cx="1956816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32104" y="5829300"/>
            <a:ext cx="17739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 REQUISIÇÃO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592824" y="5797296"/>
            <a:ext cx="2432304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84264" y="5829300"/>
            <a:ext cx="22494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MINHAS REQUISIÇÕES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Back-office — gestão centralizada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Indicadores, controlo operacional e aprovação de pedidos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pic>
        <p:nvPicPr>
          <p:cNvPr id="8" name="Image 0" descr="/mnt/data/frotagest_assets/mockup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17320"/>
            <a:ext cx="5559552" cy="4407408"/>
          </a:xfrm>
          <a:prstGeom prst="rect">
            <a:avLst/>
          </a:prstGeom>
        </p:spPr>
      </p:pic>
      <p:pic>
        <p:nvPicPr>
          <p:cNvPr id="9" name="Image 1" descr="/mnt/data/frotagest_assets/mockup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417320"/>
            <a:ext cx="5413248" cy="44074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77240" y="5833872"/>
            <a:ext cx="1335024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" y="5865876"/>
            <a:ext cx="11521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73952" y="5833872"/>
            <a:ext cx="2587752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65392" y="5865876"/>
            <a:ext cx="2404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REQUISIÇÕES PENDENTES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Back-office — gestão de viaturas e condutores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Inventário, estado das viaturas e disponibilidade dos condutores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pic>
        <p:nvPicPr>
          <p:cNvPr id="8" name="Image 0" descr="/mnt/data/frotagest_assets/mockup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17320"/>
            <a:ext cx="5559552" cy="4425696"/>
          </a:xfrm>
          <a:prstGeom prst="rect">
            <a:avLst/>
          </a:prstGeom>
        </p:spPr>
      </p:pic>
      <p:pic>
        <p:nvPicPr>
          <p:cNvPr id="9" name="Image 1" descr="/mnt/data/frotagest_assets/mockup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417320"/>
            <a:ext cx="5413248" cy="442569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77240" y="5833872"/>
            <a:ext cx="1883664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" y="5865876"/>
            <a:ext cx="17007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DE VIATURAS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73952" y="5833872"/>
            <a:ext cx="1572768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65392" y="5865876"/>
            <a:ext cx="1389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CONDUTORES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Manutenção, documentos e compras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Gestão preventiva e registo de custos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pic>
        <p:nvPicPr>
          <p:cNvPr id="8" name="Image 0" descr="/mnt/data/frotagest_assets/mockup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35608"/>
            <a:ext cx="3630168" cy="4279392"/>
          </a:xfrm>
          <a:prstGeom prst="rect">
            <a:avLst/>
          </a:prstGeom>
        </p:spPr>
      </p:pic>
      <p:pic>
        <p:nvPicPr>
          <p:cNvPr id="9" name="Image 1" descr="/mnt/data/frotagest_assets/mockup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435608"/>
            <a:ext cx="3630168" cy="4279392"/>
          </a:xfrm>
          <a:prstGeom prst="rect">
            <a:avLst/>
          </a:prstGeom>
        </p:spPr>
      </p:pic>
      <p:pic>
        <p:nvPicPr>
          <p:cNvPr id="10" name="Image 2" descr="/mnt/data/frotagest_assets/mockup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435608"/>
            <a:ext cx="3630168" cy="427939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2960" y="5769864"/>
            <a:ext cx="1618488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914400" y="5801868"/>
            <a:ext cx="14356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489704" y="5769864"/>
            <a:ext cx="2551176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581144" y="5801868"/>
            <a:ext cx="2368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REGISTO DE INTERVENÇÃO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8348472" y="5769864"/>
            <a:ext cx="1728216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439912" y="5801868"/>
            <a:ext cx="15453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NECESSIDADES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 Android — acesso em mobilidade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de pedidos, nova requisição e acompanhamento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pic>
        <p:nvPicPr>
          <p:cNvPr id="8" name="Image 0" descr="/mnt/data/frotagest_assets/mockup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2880360" cy="4453128"/>
          </a:xfrm>
          <a:prstGeom prst="rect">
            <a:avLst/>
          </a:prstGeom>
        </p:spPr>
      </p:pic>
      <p:pic>
        <p:nvPicPr>
          <p:cNvPr id="9" name="Image 1" descr="/mnt/data/frotagest_assets/mockup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463040"/>
            <a:ext cx="2880360" cy="4453128"/>
          </a:xfrm>
          <a:prstGeom prst="rect">
            <a:avLst/>
          </a:prstGeom>
        </p:spPr>
      </p:pic>
      <p:pic>
        <p:nvPicPr>
          <p:cNvPr id="10" name="Image 2" descr="/mnt/data/frotagest_assets/mockup2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463040"/>
            <a:ext cx="2880360" cy="445312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737360" y="5852160"/>
            <a:ext cx="1179576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828800" y="5884164"/>
            <a:ext cx="9966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376672" y="5852160"/>
            <a:ext cx="1563624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68112" y="5884164"/>
            <a:ext cx="13807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NOVO PEDIDO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9198864" y="5852160"/>
            <a:ext cx="1280160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290304" y="5884164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DETALHE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 Android — utilização da viatura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Check-in, check-out, registos de viagem e sincronização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pic>
        <p:nvPicPr>
          <p:cNvPr id="8" name="Image 0" descr="/mnt/data/frotagest_assets/mockup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44752"/>
            <a:ext cx="2926080" cy="4489704"/>
          </a:xfrm>
          <a:prstGeom prst="rect">
            <a:avLst/>
          </a:prstGeom>
        </p:spPr>
      </p:pic>
      <p:pic>
        <p:nvPicPr>
          <p:cNvPr id="9" name="Image 1" descr="/mnt/data/frotagest_assets/mockup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444752"/>
            <a:ext cx="2926080" cy="4489704"/>
          </a:xfrm>
          <a:prstGeom prst="rect">
            <a:avLst/>
          </a:prstGeom>
        </p:spPr>
      </p:pic>
      <p:pic>
        <p:nvPicPr>
          <p:cNvPr id="10" name="Image 2" descr="/mnt/data/frotagest_assets/mockup3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444752"/>
            <a:ext cx="2926080" cy="448970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417320" y="5852160"/>
            <a:ext cx="2093976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508760" y="5884164"/>
            <a:ext cx="19110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RECEÇÃO E ENTREGA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120640" y="5852160"/>
            <a:ext cx="2048256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212080" y="5884164"/>
            <a:ext cx="18653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VIAGEM EM CURSO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8686800" y="5852160"/>
            <a:ext cx="2093976" cy="283464"/>
          </a:xfrm>
          <a:prstGeom prst="roundRect">
            <a:avLst>
              <a:gd name="adj" fmla="val 32258"/>
            </a:avLst>
          </a:prstGeom>
          <a:solidFill>
            <a:srgbClr val="EFF5FF"/>
          </a:solidFill>
          <a:ln w="7620">
            <a:solidFill>
              <a:srgbClr val="EFF5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778240" y="5884164"/>
            <a:ext cx="19110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APROVAÇÃO MÓVEL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Funcionalidades diferenciadoras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do que um simples sistema de reservas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3593592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63040"/>
            <a:ext cx="59436" cy="1847088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09344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 Code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048256"/>
            <a:ext cx="3227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Identificação da viatura na app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1463040"/>
            <a:ext cx="3593592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463040"/>
            <a:ext cx="59436" cy="1847088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09344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Registo fotográfico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09160" y="2048256"/>
            <a:ext cx="3227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 no check-in e check-out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0" y="1463040"/>
            <a:ext cx="3593592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1463040"/>
            <a:ext cx="59436" cy="1847088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1609344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Modo offline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95360" y="2048256"/>
            <a:ext cx="3227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Registo local com sincronização posterior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3593592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657600"/>
            <a:ext cx="59436" cy="1847088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803904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automáticos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960" y="4242816"/>
            <a:ext cx="3227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Documentos, inspeções e revisões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26280" y="3657600"/>
            <a:ext cx="3593592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3657600"/>
            <a:ext cx="59436" cy="1847088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803904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Geolocalização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709160" y="4242816"/>
            <a:ext cx="3227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Viaturas em utilização e respetivas rotas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412480" y="3657600"/>
            <a:ext cx="3593592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3657600"/>
            <a:ext cx="59436" cy="1847088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3803904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Orçamentos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595360" y="4242816"/>
            <a:ext cx="32278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Necessidades agrupadas e manutenção associada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 do sistema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Três componentes ligados a uma base de dados única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3593592" cy="1353312"/>
          </a:xfrm>
          <a:prstGeom prst="roundRect">
            <a:avLst>
              <a:gd name="adj" fmla="val 8784"/>
            </a:avLst>
          </a:prstGeom>
          <a:solidFill>
            <a:srgbClr val="10243A"/>
          </a:solidFill>
          <a:ln w="7620">
            <a:solidFill>
              <a:srgbClr val="102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929384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— Yii2 / PHP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7512" y="2404872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Front-office + back-office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07992" y="1664208"/>
            <a:ext cx="3593592" cy="1353312"/>
          </a:xfrm>
          <a:prstGeom prst="roundRect">
            <a:avLst>
              <a:gd name="adj" fmla="val 8784"/>
            </a:avLst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2584" y="1929384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REST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72584" y="2404872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Serviços de integração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13064" y="1664208"/>
            <a:ext cx="3593592" cy="1353312"/>
          </a:xfrm>
          <a:prstGeom prst="roundRect">
            <a:avLst>
              <a:gd name="adj" fmla="val 8784"/>
            </a:avLst>
          </a:prstGeom>
          <a:solidFill>
            <a:srgbClr val="10243A"/>
          </a:solidFill>
          <a:ln w="7620">
            <a:solidFill>
              <a:srgbClr val="102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77656" y="1929384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Android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77656" y="2404872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Colaborador e coordenador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42816" y="3995928"/>
            <a:ext cx="3712464" cy="1033272"/>
          </a:xfrm>
          <a:prstGeom prst="roundRect">
            <a:avLst>
              <a:gd name="adj" fmla="val 12389"/>
            </a:avLst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4270248"/>
            <a:ext cx="3337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dados MySQL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2286000" y="3044952"/>
            <a:ext cx="3803904" cy="941832"/>
          </a:xfrm>
          <a:prstGeom prst="line">
            <a:avLst/>
          </a:prstGeom>
          <a:noFill/>
          <a:ln w="29210">
            <a:solidFill>
              <a:srgbClr val="11A89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26480" y="3044952"/>
            <a:ext cx="-36576" cy="941832"/>
          </a:xfrm>
          <a:prstGeom prst="line">
            <a:avLst/>
          </a:prstGeom>
          <a:noFill/>
          <a:ln w="29210">
            <a:solidFill>
              <a:srgbClr val="11A89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12680" y="3044952"/>
            <a:ext cx="-3922776" cy="941832"/>
          </a:xfrm>
          <a:prstGeom prst="line">
            <a:avLst/>
          </a:prstGeom>
          <a:noFill/>
          <a:ln w="29210">
            <a:solidFill>
              <a:srgbClr val="11A89B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133856" y="566013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Integrações previstas: Google Calendar e Firebase Cloud Messaging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Benefícios esperados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Eficiência, rastreabilidade e maior controlo sobre a frota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6510528"/>
            <a:ext cx="11064240" cy="10973"/>
          </a:xfrm>
          <a:prstGeom prst="rect">
            <a:avLst/>
          </a:prstGeom>
          <a:solidFill>
            <a:srgbClr val="DDE6F0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56248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  •  PSI 2026/2027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5288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5340096" cy="1856232"/>
          </a:xfrm>
          <a:prstGeom prst="roundRect">
            <a:avLst>
              <a:gd name="adj" fmla="val 6404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17320"/>
            <a:ext cx="59436" cy="185623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563624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trabalho administrativo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002536"/>
            <a:ext cx="49743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e decisões concentrados num processo digital estruturado.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08776" y="1417320"/>
            <a:ext cx="5340096" cy="1856232"/>
          </a:xfrm>
          <a:prstGeom prst="roundRect">
            <a:avLst>
              <a:gd name="adj" fmla="val 6404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08776" y="1417320"/>
            <a:ext cx="59436" cy="1856232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1563624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reservas sobrepostas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91656" y="2002536"/>
            <a:ext cx="49743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Bloqueio automático de períodos indisponíveis.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47872"/>
            <a:ext cx="5340096" cy="1856232"/>
          </a:xfrm>
          <a:prstGeom prst="roundRect">
            <a:avLst>
              <a:gd name="adj" fmla="val 6404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47872"/>
            <a:ext cx="59436" cy="1856232"/>
          </a:xfrm>
          <a:prstGeom prst="rect">
            <a:avLst/>
          </a:prstGeom>
          <a:solidFill>
            <a:srgbClr val="F0AE36"/>
          </a:solidFill>
          <a:ln w="7620">
            <a:solidFill>
              <a:srgbClr val="F0AE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694176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Mais transparência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" y="4133088"/>
            <a:ext cx="49743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Histórico de utilização, quilómetros, custos e evidências fotográficas.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08776" y="3547872"/>
            <a:ext cx="5340096" cy="1856232"/>
          </a:xfrm>
          <a:prstGeom prst="roundRect">
            <a:avLst>
              <a:gd name="adj" fmla="val 6404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08776" y="3547872"/>
            <a:ext cx="59436" cy="1856232"/>
          </a:xfrm>
          <a:prstGeom prst="rect">
            <a:avLst/>
          </a:prstGeom>
          <a:solidFill>
            <a:srgbClr val="2463EB"/>
          </a:solidFill>
          <a:ln w="7620">
            <a:solidFill>
              <a:srgbClr val="24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656" y="3694176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Maior prevenção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91656" y="4133088"/>
            <a:ext cx="49743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de documentação e acompanhamento de manutenção.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131673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FrotaGest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24128" y="233172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6D9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gestão de frota mais simples, organizada e digital.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84064" y="3419856"/>
            <a:ext cx="2011680" cy="59436"/>
          </a:xfrm>
          <a:prstGeom prst="rect">
            <a:avLst/>
          </a:prstGeom>
          <a:solidFill>
            <a:srgbClr val="11A89B"/>
          </a:solidFill>
          <a:ln w="7620">
            <a:solidFill>
              <a:srgbClr val="11A8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4105656"/>
            <a:ext cx="7626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Obrigado!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2926080" y="5010912"/>
            <a:ext cx="6355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C6D9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Questões?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FrotaGest — Sistema de Gestão e Requisição de Frota</dc:title>
  <dc:subject>Apresentação do sistema FrotaGest</dc:subject>
  <dc:creator>Projeto FrotaGest</dc:creator>
  <cp:lastModifiedBy>Projeto FrotaGest</cp:lastModifiedBy>
  <cp:revision>1</cp:revision>
  <dcterms:created xsi:type="dcterms:W3CDTF">2026-10-20T18:30:15Z</dcterms:created>
  <dcterms:modified xsi:type="dcterms:W3CDTF">2026-10-20T18:30:15Z</dcterms:modified>
</cp:coreProperties>
</file>