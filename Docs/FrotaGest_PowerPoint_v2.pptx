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58" r:id="rId4"/>
    <p:sldId id="259" r:id="rId5"/>
    <p:sldId id="260" r:id="rId6"/>
    <p:sldId id="262" r:id="rId7"/>
    <p:sldId id="263" r:id="rId8"/>
    <p:sldId id="266" r:id="rId9"/>
    <p:sldId id="267" r:id="rId10"/>
    <p:sldId id="272" r:id="rId11"/>
    <p:sldId id="268" r:id="rId12"/>
    <p:sldId id="269" r:id="rId13"/>
    <p:sldId id="273" r:id="rId14"/>
    <p:sldId id="271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731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786384" y="996696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BCD3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Sistema de Gestão e Requisição de Frota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822960" y="2852928"/>
            <a:ext cx="3931920" cy="640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832104" y="3172968"/>
            <a:ext cx="82296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em Sistemas de Informação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32104" y="367588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BD0E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TeSP Programação de Sistemas de Informação  |  2.º ano, 1.º semestre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605332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Emanuel Louro Leonardo  •  Valter José Pescadinha Beca  •  Gustavo Biazini</a:t>
            </a:r>
            <a:endParaRPr lang="en-US" sz="1200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1F92027-7DC2-E505-5B41-FE83CB1FA2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298" t="49609" r="10503"/>
          <a:stretch>
            <a:fillRect/>
          </a:stretch>
        </p:blipFill>
        <p:spPr>
          <a:xfrm>
            <a:off x="8892353" y="914424"/>
            <a:ext cx="2263327" cy="21305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Índice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que vamos apresentar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Solução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Proposta e perfis de utilizador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Requisição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devolução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e back-office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Pedidos, viatura e configuração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Funcionalidades, arquitetura e planeamento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 FrotaGest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plataforma integrada para gerir viaturas, pessoas e viagens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pic>
        <p:nvPicPr>
          <p:cNvPr id="8" name="Image 0" descr="/mnt/data/frotagest_assets/hom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5486400" cy="45537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0" y="1435608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Shape 7"/>
          <p:cNvSpPr/>
          <p:nvPr/>
        </p:nvSpPr>
        <p:spPr>
          <a:xfrm>
            <a:off x="6400800" y="1435608"/>
            <a:ext cx="59436" cy="102412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8"/>
          <p:cNvSpPr/>
          <p:nvPr/>
        </p:nvSpPr>
        <p:spPr>
          <a:xfrm>
            <a:off x="6583680" y="1581912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Reservar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583680" y="2020824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Consultar viaturas e solicitar períodos de utilização.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0" y="2679192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1"/>
          <p:cNvSpPr/>
          <p:nvPr/>
        </p:nvSpPr>
        <p:spPr>
          <a:xfrm>
            <a:off x="6400800" y="2679192"/>
            <a:ext cx="59436" cy="102412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2"/>
          <p:cNvSpPr/>
          <p:nvPr/>
        </p:nvSpPr>
        <p:spPr>
          <a:xfrm>
            <a:off x="6583680" y="2825496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e atribuir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583680" y="3264408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Aprovar pedidos e selecionar condutor e viatura disponível.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0" y="3922776"/>
            <a:ext cx="509320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Shape 15"/>
          <p:cNvSpPr/>
          <p:nvPr/>
        </p:nvSpPr>
        <p:spPr>
          <a:xfrm>
            <a:off x="6400800" y="3922776"/>
            <a:ext cx="59436" cy="102412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16"/>
          <p:cNvSpPr/>
          <p:nvPr/>
        </p:nvSpPr>
        <p:spPr>
          <a:xfrm>
            <a:off x="6583680" y="4069080"/>
            <a:ext cx="4727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Acompanhar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583680" y="4507992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Registar viagens, custos, documentos e manutenção.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Quem utiliza o sistema?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Quatro perfis, com responsabilidades e permissões distintas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58368" y="1453896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41248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Colaborador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o catálogo, requisita viaturas e regista receção, entrega, quilómetros e combustível.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53896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6217920" y="1453896"/>
            <a:ext cx="59436" cy="189280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Coordenador de Frota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0" y="2039112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 pedidos, atribui viaturas e condutores e acompanha utilização, documentação e orçamentos.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658368" y="3630168"/>
            <a:ext cx="59436" cy="1892808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41248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Técnico de Manutenção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41248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Regista intervenções, peças, custos e histórico de manutenção.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7920" y="3630168"/>
            <a:ext cx="5303520" cy="1892808"/>
          </a:xfrm>
          <a:prstGeom prst="roundRect">
            <a:avLst>
              <a:gd name="adj" fmla="val 6280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217920" y="3630168"/>
            <a:ext cx="59436" cy="189280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6400800" y="37764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Administrador de Sistemas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400800" y="4215384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Gere utilizadores, roles, permissões, serviços externos e logs.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 uma requisição?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pedido à conclusão da viagem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12064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1225296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1225296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8368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Pesquisar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7512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Viaturas e datas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52928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3566160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3566160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2999232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Requisitar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008376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Categoria e motivo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193792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5907024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5907024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5340096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Decidir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349240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534656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8247888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8247888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300" dirty="0"/>
          </a:p>
        </p:txBody>
      </p:sp>
      <p:sp>
        <p:nvSpPr>
          <p:cNvPr id="26" name="Text 24"/>
          <p:cNvSpPr/>
          <p:nvPr/>
        </p:nvSpPr>
        <p:spPr>
          <a:xfrm>
            <a:off x="7680960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Utilizar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690104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QR, check-in e viagem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875520" y="1920240"/>
            <a:ext cx="2148840" cy="1993392"/>
          </a:xfrm>
          <a:prstGeom prst="roundRect">
            <a:avLst>
              <a:gd name="adj" fmla="val 642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10588752" y="1618488"/>
            <a:ext cx="722376" cy="722376"/>
          </a:xfrm>
          <a:prstGeom prst="roundRect">
            <a:avLst>
              <a:gd name="adj" fmla="val 45570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10588752" y="1737360"/>
            <a:ext cx="722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10021824" y="2514600"/>
            <a:ext cx="18653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Devolver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10030968" y="3017520"/>
            <a:ext cx="18379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Check-out e histórico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8408" y="4681728"/>
            <a:ext cx="10332720" cy="777240"/>
          </a:xfrm>
          <a:prstGeom prst="roundRect">
            <a:avLst>
              <a:gd name="adj" fmla="val 1411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32"/>
          <p:cNvSpPr/>
          <p:nvPr/>
        </p:nvSpPr>
        <p:spPr>
          <a:xfrm>
            <a:off x="1133856" y="490118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Estados previstos: pendente → aprovada / recusada / cancelada → em curso → concluída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Plataforma Web — pedido e acompanhamento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requisição, validações e histórico individual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pic>
        <p:nvPicPr>
          <p:cNvPr id="8" name="Image 0" descr="/mnt/data/frotagest_assets/mockup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5513832" cy="4389120"/>
          </a:xfrm>
          <a:prstGeom prst="rect">
            <a:avLst/>
          </a:prstGeom>
        </p:spPr>
      </p:pic>
      <p:pic>
        <p:nvPicPr>
          <p:cNvPr id="9" name="Image 1" descr="/mnt/data/frotagest_assets/mockup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7648" y="1417320"/>
            <a:ext cx="5257800" cy="43891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0664" y="5797296"/>
            <a:ext cx="195681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32104" y="5829300"/>
            <a:ext cx="177393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NOVA REQUISIÇÃO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592824" y="5797296"/>
            <a:ext cx="243230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684264" y="5829300"/>
            <a:ext cx="22494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MINHAS REQUISIÇÕES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Back-office — gestão centralizada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Indicadores, controlo operacional e aprovação de pedidos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frotagest_assets/mockup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" y="1417320"/>
            <a:ext cx="5559552" cy="4407408"/>
          </a:xfrm>
          <a:prstGeom prst="rect">
            <a:avLst/>
          </a:prstGeom>
        </p:spPr>
      </p:pic>
      <p:pic>
        <p:nvPicPr>
          <p:cNvPr id="9" name="Image 1" descr="/mnt/data/frotagest_assets/mockup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417320"/>
            <a:ext cx="5413248" cy="44074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7240" y="5833872"/>
            <a:ext cx="13350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7"/>
          <p:cNvSpPr/>
          <p:nvPr/>
        </p:nvSpPr>
        <p:spPr>
          <a:xfrm>
            <a:off x="868680" y="5865876"/>
            <a:ext cx="1152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473952" y="5833872"/>
            <a:ext cx="2587752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9"/>
          <p:cNvSpPr/>
          <p:nvPr/>
        </p:nvSpPr>
        <p:spPr>
          <a:xfrm>
            <a:off x="6565392" y="5865876"/>
            <a:ext cx="240487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PENDENTES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em mobilidade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de pedidos, nova requisição e acompanhamento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pic>
        <p:nvPicPr>
          <p:cNvPr id="8" name="Image 0" descr="/mnt/data/frotagest_assets/mockup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 descr="/mnt/data/frotagest_assets/mockup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 descr="/mnt/data/frotagest_assets/mockup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PEDIDOS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NOVO PEDIDO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198864" y="5852160"/>
            <a:ext cx="1280160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290304" y="58841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DETALHE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utilização da viatura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Check-in, check-out, registos de viagem e sincronização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pic>
        <p:nvPicPr>
          <p:cNvPr id="8" name="Image 0" descr="/mnt/data/frotagest_assets/mockup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444752"/>
            <a:ext cx="2926080" cy="4489704"/>
          </a:xfrm>
          <a:prstGeom prst="rect">
            <a:avLst/>
          </a:prstGeom>
        </p:spPr>
      </p:pic>
      <p:pic>
        <p:nvPicPr>
          <p:cNvPr id="9" name="Image 1" descr="/mnt/data/frotagest_assets/mockup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1444752"/>
            <a:ext cx="2926080" cy="4489704"/>
          </a:xfrm>
          <a:prstGeom prst="rect">
            <a:avLst/>
          </a:prstGeom>
        </p:spPr>
      </p:pic>
      <p:pic>
        <p:nvPicPr>
          <p:cNvPr id="10" name="Image 2" descr="/mnt/data/frotagest_assets/mockup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7616" y="1444752"/>
            <a:ext cx="2926080" cy="44897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41732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50876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RECEÇÃO E ENTREGA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120640" y="5852160"/>
            <a:ext cx="204825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212080" y="5884164"/>
            <a:ext cx="186537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VIAGEM EM CURSO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5852160"/>
            <a:ext cx="20939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8778240" y="5884164"/>
            <a:ext cx="19110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MÓVEL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 — acesso e configuração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Início de sessão, servidor da API e notificações em tempo real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pic>
        <p:nvPicPr>
          <p:cNvPr id="8" name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2880360" cy="4453128"/>
          </a:xfrm>
          <a:prstGeom prst="rect">
            <a:avLst/>
          </a:prstGeom>
        </p:spPr>
      </p:pic>
      <p:pic>
        <p:nvPicPr>
          <p:cNvPr id="9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5152" y="1463040"/>
            <a:ext cx="2880360" cy="4453128"/>
          </a:xfrm>
          <a:prstGeom prst="rect">
            <a:avLst/>
          </a:prstGeom>
        </p:spPr>
      </p:pic>
      <p:pic>
        <p:nvPicPr>
          <p:cNvPr id="10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1463040"/>
            <a:ext cx="2880360" cy="445312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737360" y="5852160"/>
            <a:ext cx="1179576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7"/>
          <p:cNvSpPr/>
          <p:nvPr/>
        </p:nvSpPr>
        <p:spPr>
          <a:xfrm>
            <a:off x="1828800" y="5884164"/>
            <a:ext cx="9966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LOGIN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537667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9"/>
          <p:cNvSpPr/>
          <p:nvPr/>
        </p:nvSpPr>
        <p:spPr>
          <a:xfrm>
            <a:off x="546811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CONFIGURAÇÃO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9057132" y="5852160"/>
            <a:ext cx="1563624" cy="283464"/>
          </a:xfrm>
          <a:prstGeom prst="roundRect">
            <a:avLst>
              <a:gd name="adj" fmla="val 32258"/>
            </a:avLst>
          </a:prstGeom>
          <a:solidFill>
            <a:srgbClr val="EFF5FF"/>
          </a:solidFill>
          <a:ln w="7620">
            <a:solidFill>
              <a:srgbClr val="EFF5FF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1"/>
          <p:cNvSpPr/>
          <p:nvPr/>
        </p:nvSpPr>
        <p:spPr>
          <a:xfrm>
            <a:off x="9148572" y="5884164"/>
            <a:ext cx="13807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463E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Funcionalidades diferenciadoras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Mais do que um simples sistema de reservas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400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8229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QR Code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Identificação da viatura na app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26280" y="146304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7091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 fotográfico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no check-in e check-out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146304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412480" y="146304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595360" y="160934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Registos locais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95360" y="204825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Guardados no dispositivo (SQLite) e sincronizados com a API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6400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8229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Alertas automáticos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Documentos, inspeções e revisões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262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526280" y="3657600"/>
            <a:ext cx="59436" cy="1847088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7091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Geolocalização</a:t>
            </a:r>
            <a:r>
              <a:rPr lang="pt-PT" sz="1300" i="1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(possivelmente)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091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avaliar: viaturas em utilização e respetivas rotas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412480" y="3657600"/>
            <a:ext cx="3593592" cy="1847088"/>
          </a:xfrm>
          <a:prstGeom prst="roundRect">
            <a:avLst>
              <a:gd name="adj" fmla="val 6436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8412480" y="3657600"/>
            <a:ext cx="59436" cy="1847088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8595360" y="3803904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Orçamentos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8595360" y="4242816"/>
            <a:ext cx="3227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Necessidades agrupadas e manutenção associada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Arquitetura do sistema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Três componentes ligados a uma base de dados única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Text 7"/>
          <p:cNvSpPr/>
          <p:nvPr/>
        </p:nvSpPr>
        <p:spPr>
          <a:xfrm>
            <a:off x="667512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— Yii2 / PHP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Front-office + back-office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07992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2" name="Text 10"/>
          <p:cNvSpPr/>
          <p:nvPr/>
        </p:nvSpPr>
        <p:spPr>
          <a:xfrm>
            <a:off x="4672584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72584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e master/detail para a app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13064" y="1664208"/>
            <a:ext cx="3593592" cy="1353312"/>
          </a:xfrm>
          <a:prstGeom prst="roundRect">
            <a:avLst>
              <a:gd name="adj" fmla="val 8784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8677656" y="1929384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Android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677656" y="240487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E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Colaborador e coordenador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42816" y="3995928"/>
            <a:ext cx="3712464" cy="1033272"/>
          </a:xfrm>
          <a:prstGeom prst="roundRect">
            <a:avLst>
              <a:gd name="adj" fmla="val 12389"/>
            </a:avLst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434840" y="4270248"/>
            <a:ext cx="3337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de dados MySQL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2286000" y="3044952"/>
            <a:ext cx="3803904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 flipH="1">
            <a:off x="6089904" y="3044952"/>
            <a:ext cx="365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 flipH="1">
            <a:off x="6089904" y="3044952"/>
            <a:ext cx="3922776" cy="941832"/>
          </a:xfrm>
          <a:prstGeom prst="line">
            <a:avLst/>
          </a:prstGeom>
          <a:noFill/>
          <a:ln w="29210">
            <a:solidFill>
              <a:srgbClr val="11A89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1133856" y="566013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Notificações em tempo real por messaging (publish/subscribe)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566928" y="329184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Planeamento e responsabilidades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85216" y="868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Tarefas por elemento do grupo, geridas no Jira em sprints quinzenais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66928" y="6510528"/>
            <a:ext cx="11064240" cy="10973"/>
          </a:xfrm>
          <a:prstGeom prst="rect">
            <a:avLst/>
          </a:prstGeom>
          <a:solidFill>
            <a:srgbClr val="DDE6F0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94360" y="6556248"/>
            <a:ext cx="5486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  •  PSI 2026/2027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2881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1264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612648" y="1417320"/>
            <a:ext cx="59436" cy="3246120"/>
          </a:xfrm>
          <a:prstGeom prst="rect">
            <a:avLst/>
          </a:prstGeom>
          <a:solidFill>
            <a:srgbClr val="2463EB"/>
          </a:solidFill>
          <a:ln w="7620">
            <a:solidFill>
              <a:srgbClr val="2463E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79552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Vitor Leonardo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9552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Manutenção e orçamentos de compra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Administração: utilizadores, parâmetros e logs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projeto Yii2, RBAC, migrações e modelos</a:t>
            </a:r>
          </a:p>
        </p:txBody>
      </p:sp>
      <p:sp>
        <p:nvSpPr>
          <p:cNvPr id="12" name="Shape 10"/>
          <p:cNvSpPr/>
          <p:nvPr/>
        </p:nvSpPr>
        <p:spPr>
          <a:xfrm>
            <a:off x="4361688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361688" y="1417320"/>
            <a:ext cx="59436" cy="3246120"/>
          </a:xfrm>
          <a:prstGeom prst="rect">
            <a:avLst/>
          </a:prstGeom>
          <a:solidFill>
            <a:srgbClr val="F0AE36"/>
          </a:solidFill>
          <a:ln w="7620">
            <a:solidFill>
              <a:srgbClr val="F0AE3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44568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Valter Beca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44568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Android: check-in/out, faturas e QR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Autenticação e notificações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Aprovação e atribuição de pedidos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mockups e layout Android</a:t>
            </a:r>
          </a:p>
        </p:txBody>
      </p:sp>
      <p:sp>
        <p:nvSpPr>
          <p:cNvPr id="16" name="Shape 14"/>
          <p:cNvSpPr/>
          <p:nvPr/>
        </p:nvSpPr>
        <p:spPr>
          <a:xfrm>
            <a:off x="8101584" y="1417320"/>
            <a:ext cx="3456432" cy="3246120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7620">
            <a:solidFill>
              <a:srgbClr val="DDE6F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59436" cy="324612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8284464" y="156362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2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Gustavo Biazini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84464" y="2002536"/>
            <a:ext cx="309067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Requisições do colaborador: catálogo, pedido e histórico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Frota: viaturas, condutores e documentos</a:t>
            </a:r>
          </a:p>
          <a:p>
            <a:pPr marL="171450" indent="-171450">
              <a:spcAft>
                <a:spcPts val="600"/>
              </a:spcAft>
              <a:buFont typeface="Arial"/>
              <a:buChar char="•"/>
            </a:pPr>
            <a:r>
              <a:rPr lang="pt-PT" sz="1300" dirty="0">
                <a:solidFill>
                  <a:srgbClr val="5B6A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Concluído: user stories e registo no Jira</a:t>
            </a:r>
          </a:p>
        </p:txBody>
      </p:sp>
      <p:sp>
        <p:nvSpPr>
          <p:cNvPr id="20" name="Shape 18"/>
          <p:cNvSpPr/>
          <p:nvPr/>
        </p:nvSpPr>
        <p:spPr>
          <a:xfrm>
            <a:off x="1060704" y="5093208"/>
            <a:ext cx="10058400" cy="960120"/>
          </a:xfrm>
          <a:prstGeom prst="roundRect">
            <a:avLst>
              <a:gd name="adj" fmla="val 19048"/>
            </a:avLst>
          </a:prstGeom>
          <a:solidFill>
            <a:srgbClr val="10243A"/>
          </a:solidFill>
          <a:ln w="7620">
            <a:solidFill>
              <a:srgbClr val="10243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1344168" y="5312664"/>
            <a:ext cx="94183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Etapa 1 (AMSI): 07/11   •   Deploy 1: 16–20/11   •   Deploy 2: 14–18/12</a:t>
            </a:r>
          </a:p>
          <a:p>
            <a:pPr marL="0" indent="0" algn="ctr">
              <a:buNone/>
            </a:pPr>
            <a:r>
              <a:rPr lang="pt-PT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3: 11–16/01   •   Entrega final: 16/01 a 06/02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4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841248" y="1316736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FrotaGest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24128" y="233172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gestão de frota mais simples, organizada e digital.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084064" y="3419856"/>
            <a:ext cx="2011680" cy="59436"/>
          </a:xfrm>
          <a:prstGeom prst="rect">
            <a:avLst/>
          </a:prstGeom>
          <a:solidFill>
            <a:srgbClr val="11A89B"/>
          </a:solidFill>
          <a:ln w="7620">
            <a:solidFill>
              <a:srgbClr val="11A89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286000" y="4105656"/>
            <a:ext cx="7626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Obrigado!</a:t>
            </a:r>
            <a:endParaRPr lang="en-US" sz="3500" dirty="0"/>
          </a:p>
        </p:txBody>
      </p:sp>
      <p:sp>
        <p:nvSpPr>
          <p:cNvPr id="7" name="Text 5"/>
          <p:cNvSpPr/>
          <p:nvPr/>
        </p:nvSpPr>
        <p:spPr>
          <a:xfrm>
            <a:off x="2926080" y="5010912"/>
            <a:ext cx="6355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dirty="0">
                <a:solidFill>
                  <a:srgbClr val="C6D9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Questões?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671</Words>
  <Application>Microsoft Office PowerPoint</Application>
  <PresentationFormat>Ecrã Panorâmico</PresentationFormat>
  <Paragraphs>161</Paragraphs>
  <Slides>14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14</vt:i4>
      </vt:variant>
    </vt:vector>
  </HeadingPairs>
  <TitlesOfParts>
    <vt:vector size="17" baseType="lpstr">
      <vt:lpstr>Aptos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FrotaGest — Sistema de Gestão e Requisição de Frota</dc:title>
  <dc:subject>Apresentação do sistema FrotaGest</dc:subject>
  <dc:creator>Projeto FrotaGest</dc:creator>
  <cp:lastModifiedBy>Gustavo Boiça Biazini</cp:lastModifiedBy>
  <cp:revision>4</cp:revision>
  <dcterms:created xsi:type="dcterms:W3CDTF">2026-10-20T18:30:15Z</dcterms:created>
  <dcterms:modified xsi:type="dcterms:W3CDTF">2026-10-27T19:46:45Z</dcterms:modified>
</cp:coreProperties>
</file>