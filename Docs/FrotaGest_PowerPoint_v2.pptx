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74" r:id="rId3"/>
    <p:sldId id="258" r:id="rId4"/>
    <p:sldId id="259" r:id="rId5"/>
    <p:sldId id="260" r:id="rId6"/>
    <p:sldId id="262" r:id="rId7"/>
    <p:sldId id="263" r:id="rId8"/>
    <p:sldId id="266" r:id="rId9"/>
    <p:sldId id="267" r:id="rId10"/>
    <p:sldId id="272" r:id="rId11"/>
    <p:sldId id="268" r:id="rId12"/>
    <p:sldId id="269" r:id="rId13"/>
    <p:sldId id="273" r:id="rId14"/>
    <p:sldId id="271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4731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786384" y="996696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dirty="0">
                <a:solidFill>
                  <a:srgbClr val="BCD3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Sistema de Gestão e Requisição de Frota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822960" y="2852928"/>
            <a:ext cx="3931920" cy="64008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832104" y="3172968"/>
            <a:ext cx="82296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Projeto em Sistemas de Informação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32104" y="3675888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BD0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TeSP Programação de Sistemas de Informação  |  2.º ano, 1.º semestre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32104" y="605332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6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Vitor Emanuel Louro Leonardo  •  Valter José Pescadinha Beca  •  Gustavo Biazini</a:t>
            </a:r>
            <a:endParaRPr lang="en-US" sz="1200" dirty="0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31F92027-7DC2-E505-5B41-FE83CB1FA2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0298" t="49609" r="10503"/>
          <a:stretch>
            <a:fillRect/>
          </a:stretch>
        </p:blipFill>
        <p:spPr>
          <a:xfrm>
            <a:off x="8892353" y="914424"/>
            <a:ext cx="2263327" cy="21305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Índice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que vamos apresentar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12064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9" name="Shape 7"/>
          <p:cNvSpPr/>
          <p:nvPr/>
        </p:nvSpPr>
        <p:spPr>
          <a:xfrm>
            <a:off x="1225296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1225296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58368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Solução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67512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Proposta e perfis de utilizador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52928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Shape 12"/>
          <p:cNvSpPr/>
          <p:nvPr/>
        </p:nvSpPr>
        <p:spPr>
          <a:xfrm>
            <a:off x="3566160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5" name="Text 13"/>
          <p:cNvSpPr/>
          <p:nvPr/>
        </p:nvSpPr>
        <p:spPr>
          <a:xfrm>
            <a:off x="3566160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2300" dirty="0"/>
          </a:p>
        </p:txBody>
      </p:sp>
      <p:sp>
        <p:nvSpPr>
          <p:cNvPr id="16" name="Text 14"/>
          <p:cNvSpPr/>
          <p:nvPr/>
        </p:nvSpPr>
        <p:spPr>
          <a:xfrm>
            <a:off x="2999232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Requisição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3008376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pedido à devolução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193792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9" name="Shape 17"/>
          <p:cNvSpPr/>
          <p:nvPr/>
        </p:nvSpPr>
        <p:spPr>
          <a:xfrm>
            <a:off x="5907024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0" name="Text 18"/>
          <p:cNvSpPr/>
          <p:nvPr/>
        </p:nvSpPr>
        <p:spPr>
          <a:xfrm>
            <a:off x="5907024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5340096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Plataforma Web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5349240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Front-office e back-office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534656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4" name="Shape 22"/>
          <p:cNvSpPr/>
          <p:nvPr/>
        </p:nvSpPr>
        <p:spPr>
          <a:xfrm>
            <a:off x="8247888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5" name="Text 23"/>
          <p:cNvSpPr/>
          <p:nvPr/>
        </p:nvSpPr>
        <p:spPr>
          <a:xfrm>
            <a:off x="8247888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2300" dirty="0"/>
          </a:p>
        </p:txBody>
      </p:sp>
      <p:sp>
        <p:nvSpPr>
          <p:cNvPr id="26" name="Text 24"/>
          <p:cNvSpPr/>
          <p:nvPr/>
        </p:nvSpPr>
        <p:spPr>
          <a:xfrm>
            <a:off x="7680960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Android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690104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Pedidos, viatura e configuração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875520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9" name="Shape 27"/>
          <p:cNvSpPr/>
          <p:nvPr/>
        </p:nvSpPr>
        <p:spPr>
          <a:xfrm>
            <a:off x="10588752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0" name="Text 28"/>
          <p:cNvSpPr/>
          <p:nvPr/>
        </p:nvSpPr>
        <p:spPr>
          <a:xfrm>
            <a:off x="10588752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2300" dirty="0"/>
          </a:p>
        </p:txBody>
      </p:sp>
      <p:sp>
        <p:nvSpPr>
          <p:cNvPr id="31" name="Text 29"/>
          <p:cNvSpPr/>
          <p:nvPr/>
        </p:nvSpPr>
        <p:spPr>
          <a:xfrm>
            <a:off x="10021824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Arquitetura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10030968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Funcionalidades, arquitetura e planeamento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78408" y="4681728"/>
            <a:ext cx="10332720" cy="777240"/>
          </a:xfrm>
          <a:prstGeom prst="roundRect">
            <a:avLst>
              <a:gd name="adj" fmla="val 1411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4" name="Text 32"/>
          <p:cNvSpPr/>
          <p:nvPr/>
        </p:nvSpPr>
        <p:spPr>
          <a:xfrm>
            <a:off x="1133856" y="4901184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17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Vitor Leonardo, Valter Beca e Gustavo Biazini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solução FrotaGest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Uma plataforma integrada para gerir viaturas, pessoas e viagens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pic>
        <p:nvPicPr>
          <p:cNvPr id="8" name="Image 0" descr="/mnt/data/frotagest_assets/hom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71600"/>
            <a:ext cx="5486400" cy="45537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400800" y="1435608"/>
            <a:ext cx="5093208" cy="1024128"/>
          </a:xfrm>
          <a:prstGeom prst="roundRect">
            <a:avLst>
              <a:gd name="adj" fmla="val 11607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Shape 7"/>
          <p:cNvSpPr/>
          <p:nvPr/>
        </p:nvSpPr>
        <p:spPr>
          <a:xfrm>
            <a:off x="6400800" y="1435608"/>
            <a:ext cx="59436" cy="1024128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1" name="Text 8"/>
          <p:cNvSpPr/>
          <p:nvPr/>
        </p:nvSpPr>
        <p:spPr>
          <a:xfrm>
            <a:off x="6583680" y="1581912"/>
            <a:ext cx="4727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Reservar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583680" y="2020824"/>
            <a:ext cx="4727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Consultar viaturas e solicitar períodos de utilização.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400800" y="2679192"/>
            <a:ext cx="5093208" cy="1024128"/>
          </a:xfrm>
          <a:prstGeom prst="roundRect">
            <a:avLst>
              <a:gd name="adj" fmla="val 11607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Shape 11"/>
          <p:cNvSpPr/>
          <p:nvPr/>
        </p:nvSpPr>
        <p:spPr>
          <a:xfrm>
            <a:off x="6400800" y="2679192"/>
            <a:ext cx="59436" cy="1024128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5" name="Text 12"/>
          <p:cNvSpPr/>
          <p:nvPr/>
        </p:nvSpPr>
        <p:spPr>
          <a:xfrm>
            <a:off x="6583680" y="2825496"/>
            <a:ext cx="4727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Validar e atribuir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583680" y="3264408"/>
            <a:ext cx="4727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Aprovar pedidos e selecionar condutor e viatura disponível.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00800" y="3922776"/>
            <a:ext cx="5093208" cy="1024128"/>
          </a:xfrm>
          <a:prstGeom prst="roundRect">
            <a:avLst>
              <a:gd name="adj" fmla="val 11607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8" name="Shape 15"/>
          <p:cNvSpPr/>
          <p:nvPr/>
        </p:nvSpPr>
        <p:spPr>
          <a:xfrm>
            <a:off x="6400800" y="3922776"/>
            <a:ext cx="59436" cy="1024128"/>
          </a:xfrm>
          <a:prstGeom prst="rect">
            <a:avLst/>
          </a:prstGeom>
          <a:solidFill>
            <a:srgbClr val="F0AE36"/>
          </a:solidFill>
          <a:ln w="7620">
            <a:solidFill>
              <a:srgbClr val="F0AE36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9" name="Text 16"/>
          <p:cNvSpPr/>
          <p:nvPr/>
        </p:nvSpPr>
        <p:spPr>
          <a:xfrm>
            <a:off x="6583680" y="4069080"/>
            <a:ext cx="4727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Acompanhar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583680" y="4507992"/>
            <a:ext cx="4727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Registar viagens, custos, documentos e manutenção.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Quem utiliza o sistema?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Quatro perfis, com responsabilidades e permissões distintas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453896"/>
            <a:ext cx="5303520" cy="1892808"/>
          </a:xfrm>
          <a:prstGeom prst="roundRect">
            <a:avLst>
              <a:gd name="adj" fmla="val 6280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9" name="Shape 7"/>
          <p:cNvSpPr/>
          <p:nvPr/>
        </p:nvSpPr>
        <p:spPr>
          <a:xfrm>
            <a:off x="658368" y="1453896"/>
            <a:ext cx="59436" cy="1892808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841248" y="160020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 Colaborador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41248" y="2039112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 o catálogo, requisita viaturas e regista receção, entrega, quilómetros e combustível.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1453896"/>
            <a:ext cx="5303520" cy="1892808"/>
          </a:xfrm>
          <a:prstGeom prst="roundRect">
            <a:avLst>
              <a:gd name="adj" fmla="val 6280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Shape 11"/>
          <p:cNvSpPr/>
          <p:nvPr/>
        </p:nvSpPr>
        <p:spPr>
          <a:xfrm>
            <a:off x="6217920" y="1453896"/>
            <a:ext cx="59436" cy="1892808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12"/>
          <p:cNvSpPr/>
          <p:nvPr/>
        </p:nvSpPr>
        <p:spPr>
          <a:xfrm>
            <a:off x="6400800" y="160020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 Coordenador de Frota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400800" y="2039112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Aprova pedidos, atribui viaturas e condutores e acompanha utilização, documentação e orçamentos.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8368" y="3630168"/>
            <a:ext cx="5303520" cy="1892808"/>
          </a:xfrm>
          <a:prstGeom prst="roundRect">
            <a:avLst>
              <a:gd name="adj" fmla="val 6280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7" name="Shape 15"/>
          <p:cNvSpPr/>
          <p:nvPr/>
        </p:nvSpPr>
        <p:spPr>
          <a:xfrm>
            <a:off x="658368" y="3630168"/>
            <a:ext cx="59436" cy="1892808"/>
          </a:xfrm>
          <a:prstGeom prst="rect">
            <a:avLst/>
          </a:prstGeom>
          <a:solidFill>
            <a:srgbClr val="F0AE36"/>
          </a:solidFill>
          <a:ln w="7620">
            <a:solidFill>
              <a:srgbClr val="F0AE36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16"/>
          <p:cNvSpPr/>
          <p:nvPr/>
        </p:nvSpPr>
        <p:spPr>
          <a:xfrm>
            <a:off x="841248" y="377647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 Técnico de Manutenção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41248" y="4215384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Regista intervenções, peças, custos e histórico de manutenção.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17920" y="3630168"/>
            <a:ext cx="5303520" cy="1892808"/>
          </a:xfrm>
          <a:prstGeom prst="roundRect">
            <a:avLst>
              <a:gd name="adj" fmla="val 6280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1" name="Shape 19"/>
          <p:cNvSpPr/>
          <p:nvPr/>
        </p:nvSpPr>
        <p:spPr>
          <a:xfrm>
            <a:off x="6217920" y="3630168"/>
            <a:ext cx="59436" cy="1892808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2" name="Text 20"/>
          <p:cNvSpPr/>
          <p:nvPr/>
        </p:nvSpPr>
        <p:spPr>
          <a:xfrm>
            <a:off x="6400800" y="377647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 Administrador de Sistemas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400800" y="4215384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Gere utilizadores, roles, permissões, serviços externos e logs.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Como funciona uma requisição?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pedido à conclusão da viagem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12064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9" name="Shape 7"/>
          <p:cNvSpPr/>
          <p:nvPr/>
        </p:nvSpPr>
        <p:spPr>
          <a:xfrm>
            <a:off x="1225296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1225296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58368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Pesquisar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67512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Viaturas e datas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52928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Shape 12"/>
          <p:cNvSpPr/>
          <p:nvPr/>
        </p:nvSpPr>
        <p:spPr>
          <a:xfrm>
            <a:off x="3566160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5" name="Text 13"/>
          <p:cNvSpPr/>
          <p:nvPr/>
        </p:nvSpPr>
        <p:spPr>
          <a:xfrm>
            <a:off x="3566160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2300" dirty="0"/>
          </a:p>
        </p:txBody>
      </p:sp>
      <p:sp>
        <p:nvSpPr>
          <p:cNvPr id="16" name="Text 14"/>
          <p:cNvSpPr/>
          <p:nvPr/>
        </p:nvSpPr>
        <p:spPr>
          <a:xfrm>
            <a:off x="2999232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Requisitar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3008376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Categoria e motivo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193792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9" name="Shape 17"/>
          <p:cNvSpPr/>
          <p:nvPr/>
        </p:nvSpPr>
        <p:spPr>
          <a:xfrm>
            <a:off x="5907024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0" name="Text 18"/>
          <p:cNvSpPr/>
          <p:nvPr/>
        </p:nvSpPr>
        <p:spPr>
          <a:xfrm>
            <a:off x="5907024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5340096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Decidir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5349240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Aprovação e atribuição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534656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4" name="Shape 22"/>
          <p:cNvSpPr/>
          <p:nvPr/>
        </p:nvSpPr>
        <p:spPr>
          <a:xfrm>
            <a:off x="8247888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5" name="Text 23"/>
          <p:cNvSpPr/>
          <p:nvPr/>
        </p:nvSpPr>
        <p:spPr>
          <a:xfrm>
            <a:off x="8247888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2300" dirty="0"/>
          </a:p>
        </p:txBody>
      </p:sp>
      <p:sp>
        <p:nvSpPr>
          <p:cNvPr id="26" name="Text 24"/>
          <p:cNvSpPr/>
          <p:nvPr/>
        </p:nvSpPr>
        <p:spPr>
          <a:xfrm>
            <a:off x="7680960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Utilizar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690104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QR, check-in e viagem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875520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9" name="Shape 27"/>
          <p:cNvSpPr/>
          <p:nvPr/>
        </p:nvSpPr>
        <p:spPr>
          <a:xfrm>
            <a:off x="10588752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0" name="Text 28"/>
          <p:cNvSpPr/>
          <p:nvPr/>
        </p:nvSpPr>
        <p:spPr>
          <a:xfrm>
            <a:off x="10588752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2300" dirty="0"/>
          </a:p>
        </p:txBody>
      </p:sp>
      <p:sp>
        <p:nvSpPr>
          <p:cNvPr id="31" name="Text 29"/>
          <p:cNvSpPr/>
          <p:nvPr/>
        </p:nvSpPr>
        <p:spPr>
          <a:xfrm>
            <a:off x="10021824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Devolver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10030968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Check-out e histórico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78408" y="4681728"/>
            <a:ext cx="10332720" cy="777240"/>
          </a:xfrm>
          <a:prstGeom prst="roundRect">
            <a:avLst>
              <a:gd name="adj" fmla="val 1411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4" name="Text 32"/>
          <p:cNvSpPr/>
          <p:nvPr/>
        </p:nvSpPr>
        <p:spPr>
          <a:xfrm>
            <a:off x="1133856" y="4901184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Estados previstos: pendente → aprovada / recusada / cancelada → em curso → concluída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Plataforma Web — pedido e acompanhamento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Nova requisição, validações e histórico individual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  <p:pic>
        <p:nvPicPr>
          <p:cNvPr id="8" name="Image 0" descr="/mnt/data/frotagest_assets/mockup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417320"/>
            <a:ext cx="5513832" cy="4389120"/>
          </a:xfrm>
          <a:prstGeom prst="rect">
            <a:avLst/>
          </a:prstGeom>
        </p:spPr>
      </p:pic>
      <p:pic>
        <p:nvPicPr>
          <p:cNvPr id="9" name="Image 1" descr="/mnt/data/frotagest_assets/mockup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7648" y="1417320"/>
            <a:ext cx="5257800" cy="43891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40664" y="5797296"/>
            <a:ext cx="1956816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1" name="Text 7"/>
          <p:cNvSpPr/>
          <p:nvPr/>
        </p:nvSpPr>
        <p:spPr>
          <a:xfrm>
            <a:off x="832104" y="5829300"/>
            <a:ext cx="17739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NOVA REQUISIÇÃO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592824" y="5797296"/>
            <a:ext cx="2432304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Text 9"/>
          <p:cNvSpPr/>
          <p:nvPr/>
        </p:nvSpPr>
        <p:spPr>
          <a:xfrm>
            <a:off x="6684264" y="5829300"/>
            <a:ext cx="22494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 MINHAS REQUISIÇÕES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Back-office — gestão centralizada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Indicadores, controlo operacional e aprovação de pedidos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  <p:pic>
        <p:nvPicPr>
          <p:cNvPr id="8" name="Image 0" descr="/mnt/data/frotagest_assets/mockup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" y="1417320"/>
            <a:ext cx="5559552" cy="4407408"/>
          </a:xfrm>
          <a:prstGeom prst="rect">
            <a:avLst/>
          </a:prstGeom>
        </p:spPr>
      </p:pic>
      <p:pic>
        <p:nvPicPr>
          <p:cNvPr id="9" name="Image 1" descr="/mnt/data/frotagest_assets/mockup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1417320"/>
            <a:ext cx="5413248" cy="440740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77240" y="5833872"/>
            <a:ext cx="1335024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1" name="Text 7"/>
          <p:cNvSpPr/>
          <p:nvPr/>
        </p:nvSpPr>
        <p:spPr>
          <a:xfrm>
            <a:off x="868680" y="5865876"/>
            <a:ext cx="1152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473952" y="5833872"/>
            <a:ext cx="2587752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Text 9"/>
          <p:cNvSpPr/>
          <p:nvPr/>
        </p:nvSpPr>
        <p:spPr>
          <a:xfrm>
            <a:off x="6565392" y="5865876"/>
            <a:ext cx="24048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REQUISIÇÕES PENDENTES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Aplicação Android — acesso em mobilidade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 de pedidos, nova requisição e acompanhamento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  <p:pic>
        <p:nvPicPr>
          <p:cNvPr id="8" name="Image 0" descr="/mnt/data/frotagest_assets/mockup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463040"/>
            <a:ext cx="2880360" cy="4453128"/>
          </a:xfrm>
          <a:prstGeom prst="rect">
            <a:avLst/>
          </a:prstGeom>
        </p:spPr>
      </p:pic>
      <p:pic>
        <p:nvPicPr>
          <p:cNvPr id="9" name="Image 1" descr="/mnt/data/frotagest_assets/mockup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5152" y="1463040"/>
            <a:ext cx="2880360" cy="4453128"/>
          </a:xfrm>
          <a:prstGeom prst="rect">
            <a:avLst/>
          </a:prstGeom>
        </p:spPr>
      </p:pic>
      <p:pic>
        <p:nvPicPr>
          <p:cNvPr id="10" name="Image 2" descr="/mnt/data/frotagest_assets/mockup2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7616" y="1463040"/>
            <a:ext cx="2880360" cy="445312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1737360" y="5852160"/>
            <a:ext cx="1179576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2" name="Text 7"/>
          <p:cNvSpPr/>
          <p:nvPr/>
        </p:nvSpPr>
        <p:spPr>
          <a:xfrm>
            <a:off x="1828800" y="5884164"/>
            <a:ext cx="99669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PEDIDOS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5376672" y="5852160"/>
            <a:ext cx="1563624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9"/>
          <p:cNvSpPr/>
          <p:nvPr/>
        </p:nvSpPr>
        <p:spPr>
          <a:xfrm>
            <a:off x="5468112" y="5884164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NOVO PEDIDO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9198864" y="5852160"/>
            <a:ext cx="1280160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6" name="Text 11"/>
          <p:cNvSpPr/>
          <p:nvPr/>
        </p:nvSpPr>
        <p:spPr>
          <a:xfrm>
            <a:off x="9290304" y="5884164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DETALHE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Aplicação Android — utilização da viatura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Check-in, check-out, registos de viagem e sincronização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  <p:pic>
        <p:nvPicPr>
          <p:cNvPr id="8" name="Image 0" descr="/mnt/data/frotagest_assets/mockup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444752"/>
            <a:ext cx="2926080" cy="4489704"/>
          </a:xfrm>
          <a:prstGeom prst="rect">
            <a:avLst/>
          </a:prstGeom>
        </p:spPr>
      </p:pic>
      <p:pic>
        <p:nvPicPr>
          <p:cNvPr id="9" name="Image 1" descr="/mnt/data/frotagest_assets/mockup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728" y="1444752"/>
            <a:ext cx="2926080" cy="4489704"/>
          </a:xfrm>
          <a:prstGeom prst="rect">
            <a:avLst/>
          </a:prstGeom>
        </p:spPr>
      </p:pic>
      <p:pic>
        <p:nvPicPr>
          <p:cNvPr id="10" name="Image 2" descr="/mnt/data/frotagest_assets/mockup3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7616" y="1444752"/>
            <a:ext cx="2926080" cy="448970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1417320" y="5852160"/>
            <a:ext cx="2093976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2" name="Text 7"/>
          <p:cNvSpPr/>
          <p:nvPr/>
        </p:nvSpPr>
        <p:spPr>
          <a:xfrm>
            <a:off x="1508760" y="5884164"/>
            <a:ext cx="191109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RECEÇÃO E ENTREGA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5120640" y="5852160"/>
            <a:ext cx="2048256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9"/>
          <p:cNvSpPr/>
          <p:nvPr/>
        </p:nvSpPr>
        <p:spPr>
          <a:xfrm>
            <a:off x="5212080" y="5884164"/>
            <a:ext cx="18653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VIAGEM EM CURSO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8686800" y="5852160"/>
            <a:ext cx="2093976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6" name="Text 11"/>
          <p:cNvSpPr/>
          <p:nvPr/>
        </p:nvSpPr>
        <p:spPr>
          <a:xfrm>
            <a:off x="8778240" y="5884164"/>
            <a:ext cx="191109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APROVAÇÃO MÓVEL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Aplicação Android — acesso e configuração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Início de sessão, servidor da API e notificações em tempo real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00" dirty="0"/>
          </a:p>
        </p:txBody>
      </p:sp>
      <p:pic>
        <p:nvPicPr>
          <p:cNvPr id="8" name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2880360" cy="4453128"/>
          </a:xfrm>
          <a:prstGeom prst="rect">
            <a:avLst/>
          </a:prstGeom>
        </p:spPr>
      </p:pic>
      <p:pic>
        <p:nvPicPr>
          <p:cNvPr id="9" name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152" y="1463040"/>
            <a:ext cx="2880360" cy="4453128"/>
          </a:xfrm>
          <a:prstGeom prst="rect">
            <a:avLst/>
          </a:prstGeom>
        </p:spPr>
      </p:pic>
      <p:pic>
        <p:nvPicPr>
          <p:cNvPr id="10" name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7616" y="1463040"/>
            <a:ext cx="2880360" cy="445312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1737360" y="5852160"/>
            <a:ext cx="1179576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2" name="Text 7"/>
          <p:cNvSpPr/>
          <p:nvPr/>
        </p:nvSpPr>
        <p:spPr>
          <a:xfrm>
            <a:off x="1828800" y="5884164"/>
            <a:ext cx="99669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LOGIN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5376672" y="5852160"/>
            <a:ext cx="1563624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9"/>
          <p:cNvSpPr/>
          <p:nvPr/>
        </p:nvSpPr>
        <p:spPr>
          <a:xfrm>
            <a:off x="5468112" y="5884164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CONFIGURAÇÃO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9057132" y="5852160"/>
            <a:ext cx="1563624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6" name="Text 11"/>
          <p:cNvSpPr/>
          <p:nvPr/>
        </p:nvSpPr>
        <p:spPr>
          <a:xfrm>
            <a:off x="9148572" y="5884164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NOTIFICAÇÕES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Funcionalidades diferenciadoras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Mais do que um simples sistema de reservas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463040"/>
            <a:ext cx="3593592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9" name="Shape 7"/>
          <p:cNvSpPr/>
          <p:nvPr/>
        </p:nvSpPr>
        <p:spPr>
          <a:xfrm>
            <a:off x="640080" y="1463040"/>
            <a:ext cx="59436" cy="1847088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822960" y="1609344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 Code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2960" y="2048256"/>
            <a:ext cx="3227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Identificação da viatura na app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593592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Shape 11"/>
          <p:cNvSpPr/>
          <p:nvPr/>
        </p:nvSpPr>
        <p:spPr>
          <a:xfrm>
            <a:off x="4526280" y="1463040"/>
            <a:ext cx="59436" cy="1847088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12"/>
          <p:cNvSpPr/>
          <p:nvPr/>
        </p:nvSpPr>
        <p:spPr>
          <a:xfrm>
            <a:off x="4709160" y="1609344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Registo fotográfico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709160" y="2048256"/>
            <a:ext cx="3227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Evidência no check-in e check-out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412480" y="1463040"/>
            <a:ext cx="3593592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7" name="Shape 15"/>
          <p:cNvSpPr/>
          <p:nvPr/>
        </p:nvSpPr>
        <p:spPr>
          <a:xfrm>
            <a:off x="8412480" y="1463040"/>
            <a:ext cx="59436" cy="1847088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16"/>
          <p:cNvSpPr/>
          <p:nvPr/>
        </p:nvSpPr>
        <p:spPr>
          <a:xfrm>
            <a:off x="8595360" y="1609344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Registos locais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95360" y="2048256"/>
            <a:ext cx="3227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Guardados no dispositivo (SQLite) e sincronizados com a API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3657600"/>
            <a:ext cx="3593592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1" name="Shape 19"/>
          <p:cNvSpPr/>
          <p:nvPr/>
        </p:nvSpPr>
        <p:spPr>
          <a:xfrm>
            <a:off x="640080" y="3657600"/>
            <a:ext cx="59436" cy="1847088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2" name="Text 20"/>
          <p:cNvSpPr/>
          <p:nvPr/>
        </p:nvSpPr>
        <p:spPr>
          <a:xfrm>
            <a:off x="822960" y="3803904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Alertas automáticos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22960" y="4242816"/>
            <a:ext cx="3227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Documentos, inspeções e revisões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26280" y="3657600"/>
            <a:ext cx="3593592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5" name="Shape 23"/>
          <p:cNvSpPr/>
          <p:nvPr/>
        </p:nvSpPr>
        <p:spPr>
          <a:xfrm>
            <a:off x="4526280" y="3657600"/>
            <a:ext cx="59436" cy="1847088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6" name="Text 24"/>
          <p:cNvSpPr/>
          <p:nvPr/>
        </p:nvSpPr>
        <p:spPr>
          <a:xfrm>
            <a:off x="4709160" y="3803904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Geolocalização</a:t>
            </a:r>
            <a:r>
              <a:rPr lang="pt-PT" sz="1300" i="1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(possivelmente)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4709160" y="4242816"/>
            <a:ext cx="3227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avaliar: viaturas em utilização e respetivas rotas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412480" y="3657600"/>
            <a:ext cx="3593592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9" name="Shape 27"/>
          <p:cNvSpPr/>
          <p:nvPr/>
        </p:nvSpPr>
        <p:spPr>
          <a:xfrm>
            <a:off x="8412480" y="3657600"/>
            <a:ext cx="59436" cy="1847088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0" name="Text 28"/>
          <p:cNvSpPr/>
          <p:nvPr/>
        </p:nvSpPr>
        <p:spPr>
          <a:xfrm>
            <a:off x="8595360" y="3803904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Orçamentos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8595360" y="4242816"/>
            <a:ext cx="3227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Necessidades agrupadas e manutenção associada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Arquitetura do sistema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Três componentes ligados a uma base de dados única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2920" y="1664208"/>
            <a:ext cx="3593592" cy="1353312"/>
          </a:xfrm>
          <a:prstGeom prst="roundRect">
            <a:avLst>
              <a:gd name="adj" fmla="val 8784"/>
            </a:avLst>
          </a:prstGeom>
          <a:solidFill>
            <a:srgbClr val="10243A"/>
          </a:solidFill>
          <a:ln w="7620">
            <a:solidFill>
              <a:srgbClr val="10243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9" name="Text 7"/>
          <p:cNvSpPr/>
          <p:nvPr/>
        </p:nvSpPr>
        <p:spPr>
          <a:xfrm>
            <a:off x="667512" y="1929384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 — Yii2 / PHP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67512" y="2404872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9E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Front-office + back-office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07992" y="1664208"/>
            <a:ext cx="3593592" cy="1353312"/>
          </a:xfrm>
          <a:prstGeom prst="roundRect">
            <a:avLst>
              <a:gd name="adj" fmla="val 8784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2" name="Text 10"/>
          <p:cNvSpPr/>
          <p:nvPr/>
        </p:nvSpPr>
        <p:spPr>
          <a:xfrm>
            <a:off x="4672584" y="1929384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REST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672584" y="2404872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9E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CRUD e master/detail para a app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513064" y="1664208"/>
            <a:ext cx="3593592" cy="1353312"/>
          </a:xfrm>
          <a:prstGeom prst="roundRect">
            <a:avLst>
              <a:gd name="adj" fmla="val 8784"/>
            </a:avLst>
          </a:prstGeom>
          <a:solidFill>
            <a:srgbClr val="10243A"/>
          </a:solidFill>
          <a:ln w="7620">
            <a:solidFill>
              <a:srgbClr val="10243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5" name="Text 13"/>
          <p:cNvSpPr/>
          <p:nvPr/>
        </p:nvSpPr>
        <p:spPr>
          <a:xfrm>
            <a:off x="8677656" y="1929384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Android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677656" y="2404872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9E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Colaborador e coordenador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242816" y="3995928"/>
            <a:ext cx="3712464" cy="1033272"/>
          </a:xfrm>
          <a:prstGeom prst="roundRect">
            <a:avLst>
              <a:gd name="adj" fmla="val 12389"/>
            </a:avLst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16"/>
          <p:cNvSpPr/>
          <p:nvPr/>
        </p:nvSpPr>
        <p:spPr>
          <a:xfrm>
            <a:off x="4434840" y="4270248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de dados MySQL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2286000" y="3044952"/>
            <a:ext cx="3803904" cy="941832"/>
          </a:xfrm>
          <a:prstGeom prst="line">
            <a:avLst/>
          </a:prstGeom>
          <a:noFill/>
          <a:ln w="29210">
            <a:solidFill>
              <a:srgbClr val="11A89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20" name="Shape 18"/>
          <p:cNvSpPr/>
          <p:nvPr/>
        </p:nvSpPr>
        <p:spPr>
          <a:xfrm flipH="1">
            <a:off x="6089904" y="3044952"/>
            <a:ext cx="36576" cy="941832"/>
          </a:xfrm>
          <a:prstGeom prst="line">
            <a:avLst/>
          </a:prstGeom>
          <a:noFill/>
          <a:ln w="29210">
            <a:solidFill>
              <a:srgbClr val="11A89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21" name="Shape 19"/>
          <p:cNvSpPr/>
          <p:nvPr/>
        </p:nvSpPr>
        <p:spPr>
          <a:xfrm flipH="1">
            <a:off x="6089904" y="3044952"/>
            <a:ext cx="3922776" cy="941832"/>
          </a:xfrm>
          <a:prstGeom prst="line">
            <a:avLst/>
          </a:prstGeom>
          <a:noFill/>
          <a:ln w="29210">
            <a:solidFill>
              <a:srgbClr val="11A89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22" name="Text 20"/>
          <p:cNvSpPr/>
          <p:nvPr/>
        </p:nvSpPr>
        <p:spPr>
          <a:xfrm>
            <a:off x="1133856" y="566013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Notificações em tempo real por messaging (publish/subscribe)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Planeamento e responsabilidades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Tarefas por elemento do grupo, geridas no Jira em sprints quinzenais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12648" y="1417320"/>
            <a:ext cx="3456432" cy="3246120"/>
          </a:xfrm>
          <a:prstGeom prst="roundRect">
            <a:avLst>
              <a:gd name="adj" fmla="val 366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9" name="Shape 7"/>
          <p:cNvSpPr/>
          <p:nvPr/>
        </p:nvSpPr>
        <p:spPr>
          <a:xfrm>
            <a:off x="612648" y="1417320"/>
            <a:ext cx="59436" cy="3246120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795528" y="1563624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Vitor Leonardo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95528" y="2002536"/>
            <a:ext cx="309067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Manutenção e orçamentos de compra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Administração: utilizadores, parâmetros e logs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Concluído: projeto Yii2, RBAC, migrações e modelos</a:t>
            </a:r>
          </a:p>
        </p:txBody>
      </p:sp>
      <p:sp>
        <p:nvSpPr>
          <p:cNvPr id="12" name="Shape 10"/>
          <p:cNvSpPr/>
          <p:nvPr/>
        </p:nvSpPr>
        <p:spPr>
          <a:xfrm>
            <a:off x="4361688" y="1417320"/>
            <a:ext cx="3456432" cy="3246120"/>
          </a:xfrm>
          <a:prstGeom prst="roundRect">
            <a:avLst>
              <a:gd name="adj" fmla="val 366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Shape 11"/>
          <p:cNvSpPr/>
          <p:nvPr/>
        </p:nvSpPr>
        <p:spPr>
          <a:xfrm>
            <a:off x="4361688" y="1417320"/>
            <a:ext cx="59436" cy="3246120"/>
          </a:xfrm>
          <a:prstGeom prst="rect">
            <a:avLst/>
          </a:prstGeom>
          <a:solidFill>
            <a:srgbClr val="F0AE36"/>
          </a:solidFill>
          <a:ln w="7620">
            <a:solidFill>
              <a:srgbClr val="F0AE36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12"/>
          <p:cNvSpPr/>
          <p:nvPr/>
        </p:nvSpPr>
        <p:spPr>
          <a:xfrm>
            <a:off x="4544568" y="1563624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Valter Beca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44568" y="2002536"/>
            <a:ext cx="309067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Aplicação Android: check-in/out, faturas e QR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Autenticação e notificações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Aprovação e atribuição de pedidos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Concluído: mockups e layout Android</a:t>
            </a:r>
          </a:p>
        </p:txBody>
      </p:sp>
      <p:sp>
        <p:nvSpPr>
          <p:cNvPr id="16" name="Shape 14"/>
          <p:cNvSpPr/>
          <p:nvPr/>
        </p:nvSpPr>
        <p:spPr>
          <a:xfrm>
            <a:off x="8101584" y="1417320"/>
            <a:ext cx="3456432" cy="3246120"/>
          </a:xfrm>
          <a:prstGeom prst="roundRect">
            <a:avLst>
              <a:gd name="adj" fmla="val 366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7" name="Shape 15"/>
          <p:cNvSpPr/>
          <p:nvPr/>
        </p:nvSpPr>
        <p:spPr>
          <a:xfrm>
            <a:off x="8101584" y="1417320"/>
            <a:ext cx="59436" cy="3246120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16"/>
          <p:cNvSpPr/>
          <p:nvPr/>
        </p:nvSpPr>
        <p:spPr>
          <a:xfrm>
            <a:off x="8284464" y="1563624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Gustavo Biazini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84464" y="2002536"/>
            <a:ext cx="309067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Requisições do colaborador: catálogo, pedido e histórico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Frota: viaturas, condutores e documentos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Concluído: user stories e registo no Jira</a:t>
            </a:r>
          </a:p>
        </p:txBody>
      </p:sp>
      <p:sp>
        <p:nvSpPr>
          <p:cNvPr id="20" name="Shape 18"/>
          <p:cNvSpPr/>
          <p:nvPr/>
        </p:nvSpPr>
        <p:spPr>
          <a:xfrm>
            <a:off x="1060704" y="5093208"/>
            <a:ext cx="10058400" cy="960120"/>
          </a:xfrm>
          <a:prstGeom prst="roundRect">
            <a:avLst>
              <a:gd name="adj" fmla="val 19048"/>
            </a:avLst>
          </a:prstGeom>
          <a:solidFill>
            <a:srgbClr val="10243A"/>
          </a:solidFill>
          <a:ln w="7620">
            <a:solidFill>
              <a:srgbClr val="10243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1" name="Text 19"/>
          <p:cNvSpPr/>
          <p:nvPr/>
        </p:nvSpPr>
        <p:spPr>
          <a:xfrm>
            <a:off x="1344168" y="5312664"/>
            <a:ext cx="9418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Etapa 1 (AMSI): 07/11   •   Deploy 1: 16–20/11   •   Deploy 2: 14–18/12</a:t>
            </a:r>
          </a:p>
          <a:p>
            <a:pPr marL="0" indent="0" algn="ctr">
              <a:buNone/>
            </a:pPr>
            <a:r>
              <a:rPr lang="pt-PT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 3: 11–16/01   •   Entrega final: 16/01 a 06/02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24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841248" y="13167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24128" y="2331720"/>
            <a:ext cx="10149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C6D9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Uma gestão de frota mais simples, organizada e digital.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84064" y="3419856"/>
            <a:ext cx="2011680" cy="59436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2286000" y="4105656"/>
            <a:ext cx="7626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Obrigado!</a:t>
            </a:r>
            <a:endParaRPr lang="en-US" sz="3500" dirty="0"/>
          </a:p>
        </p:txBody>
      </p:sp>
      <p:sp>
        <p:nvSpPr>
          <p:cNvPr id="7" name="Text 5"/>
          <p:cNvSpPr/>
          <p:nvPr/>
        </p:nvSpPr>
        <p:spPr>
          <a:xfrm>
            <a:off x="2926080" y="5010912"/>
            <a:ext cx="6355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C6D9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Questões?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680</Words>
  <Application>Microsoft Office PowerPoint</Application>
  <PresentationFormat>Ecrã Panorâmico</PresentationFormat>
  <Paragraphs>162</Paragraphs>
  <Slides>14</Slides>
  <Notes>11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14</vt:i4>
      </vt:variant>
    </vt:vector>
  </HeadingPairs>
  <TitlesOfParts>
    <vt:vector size="17" baseType="lpstr">
      <vt:lpstr>Aptos</vt:lpstr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FrotaGest — Sistema de Gestão e Requisição de Frota</dc:title>
  <dc:subject>Apresentação do sistema FrotaGest</dc:subject>
  <dc:creator>Projeto FrotaGest</dc:creator>
  <cp:lastModifiedBy>Gustavo Boiça Biazini</cp:lastModifiedBy>
  <cp:revision>3</cp:revision>
  <dcterms:created xsi:type="dcterms:W3CDTF">2026-10-20T18:30:15Z</dcterms:created>
  <dcterms:modified xsi:type="dcterms:W3CDTF">2026-10-27T19:46:19Z</dcterms:modified>
</cp:coreProperties>
</file>