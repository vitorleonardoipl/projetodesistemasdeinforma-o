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4"/>
    <p:sldId id="259" r:id="rId5"/>
    <p:sldId id="260" r:id="rId6"/>
    <p:sldId id="262" r:id="rId8"/>
    <p:sldId id="263" r:id="rId9"/>
    <p:sldId id="266" r:id="rId12"/>
    <p:sldId id="267" r:id="rId13"/>
    <p:sldId id="272" r:id="rId23"/>
    <p:sldId id="268" r:id="rId14"/>
    <p:sldId id="269" r:id="rId15"/>
    <p:sldId id="273" r:id="rId24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  <Relationship Id="rId23" Type="http://schemas.openxmlformats.org/officeDocument/2006/relationships/slide" Target="slides/slide17.xml"/>
  <Relationship Id="rId24" Type="http://schemas.openxmlformats.org/officeDocument/2006/relationships/slide" Target="slides/slide18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image" Target="../media/image-17-login.png"/><Relationship Id="rId2" Type="http://schemas.openxmlformats.org/officeDocument/2006/relationships/image" Target="../media/image-17-config.png"/><Relationship Id="rId3" Type="http://schemas.openxmlformats.org/officeDocument/2006/relationships/image" Target="../media/image-17-notif.png"/><Relationship Id="rId4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11A89B"/>
          </a:solidFill>
          <a:ln w="7620">
            <a:solidFill>
              <a:srgbClr val="11A89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86384" y="996696"/>
            <a:ext cx="9144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FrotaGest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822960" y="1920240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BCD3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Sistema de Gestão e Requisição de Frota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822960" y="2852928"/>
            <a:ext cx="3931920" cy="64008"/>
          </a:xfrm>
          <a:prstGeom prst="rect">
            <a:avLst/>
          </a:prstGeom>
          <a:solidFill>
            <a:srgbClr val="11A89B"/>
          </a:solidFill>
          <a:ln w="7620">
            <a:solidFill>
              <a:srgbClr val="11A89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2104" y="3172968"/>
            <a:ext cx="82296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Projeto em Sistemas de Informação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32104" y="3675888"/>
            <a:ext cx="10058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BD0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TeSP Programação de Sistemas de Informação  |  2.º ano, 1.º semestre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32104" y="605332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6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Vitor Emanuel Louro Leonardo  •  Valter José Pescadinha Beca  •  Gustavo Biazini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9184"/>
            <a:ext cx="11064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solução FrotaGest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8686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Uma plataforma integrada para gerir viaturas, pessoas e viagens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66928" y="6510528"/>
            <a:ext cx="11064240" cy="10973"/>
          </a:xfrm>
          <a:prstGeom prst="rect">
            <a:avLst/>
          </a:prstGeom>
          <a:solidFill>
            <a:srgbClr val="DDE6F0"/>
          </a:solidFill>
          <a:ln w="7620">
            <a:solidFill>
              <a:srgbClr val="DDE6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655624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FrotaGest  •  PSI 2026/2027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288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900" dirty="0"/>
          </a:p>
        </p:txBody>
      </p:sp>
      <p:pic>
        <p:nvPicPr>
          <p:cNvPr id="8" name="Image 0" descr="/mnt/data/frotagest_assets/home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71600"/>
            <a:ext cx="5486400" cy="455371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400800" y="1435608"/>
            <a:ext cx="5093208" cy="1024128"/>
          </a:xfrm>
          <a:prstGeom prst="roundRect">
            <a:avLst>
              <a:gd name="adj" fmla="val 11607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00800" y="1435608"/>
            <a:ext cx="59436" cy="1024128"/>
          </a:xfrm>
          <a:prstGeom prst="rect">
            <a:avLst/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0" y="1581912"/>
            <a:ext cx="4727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Reservar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6583680" y="2020824"/>
            <a:ext cx="4727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Consultar viaturas e solicitar períodos de utilização.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400800" y="2679192"/>
            <a:ext cx="5093208" cy="1024128"/>
          </a:xfrm>
          <a:prstGeom prst="roundRect">
            <a:avLst>
              <a:gd name="adj" fmla="val 11607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00800" y="2679192"/>
            <a:ext cx="59436" cy="1024128"/>
          </a:xfrm>
          <a:prstGeom prst="rect">
            <a:avLst/>
          </a:prstGeom>
          <a:solidFill>
            <a:srgbClr val="11A89B"/>
          </a:solidFill>
          <a:ln w="7620">
            <a:solidFill>
              <a:srgbClr val="11A89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583680" y="2825496"/>
            <a:ext cx="4727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Validar e atribuir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6583680" y="3264408"/>
            <a:ext cx="4727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Aprovar pedidos e selecionar condutor e viatura disponível.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6400800" y="3922776"/>
            <a:ext cx="5093208" cy="1024128"/>
          </a:xfrm>
          <a:prstGeom prst="roundRect">
            <a:avLst>
              <a:gd name="adj" fmla="val 11607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400800" y="3922776"/>
            <a:ext cx="59436" cy="1024128"/>
          </a:xfrm>
          <a:prstGeom prst="rect">
            <a:avLst/>
          </a:prstGeom>
          <a:solidFill>
            <a:srgbClr val="F0AE36"/>
          </a:solidFill>
          <a:ln w="7620">
            <a:solidFill>
              <a:srgbClr val="F0AE3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583680" y="4069080"/>
            <a:ext cx="4727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Acompanhar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6583680" y="4507992"/>
            <a:ext cx="4727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Registar viagens, custos, documentos e manutenção.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9184"/>
            <a:ext cx="11064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Quem utiliza o sistema?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8686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Quatro perfis, com responsabilidades e permissões distintas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66928" y="6510528"/>
            <a:ext cx="11064240" cy="10973"/>
          </a:xfrm>
          <a:prstGeom prst="rect">
            <a:avLst/>
          </a:prstGeom>
          <a:solidFill>
            <a:srgbClr val="DDE6F0"/>
          </a:solidFill>
          <a:ln w="7620">
            <a:solidFill>
              <a:srgbClr val="DDE6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655624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FrotaGest  •  PSI 2026/2027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288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58368" y="1453896"/>
            <a:ext cx="5303520" cy="1892808"/>
          </a:xfrm>
          <a:prstGeom prst="roundRect">
            <a:avLst>
              <a:gd name="adj" fmla="val 6280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1453896"/>
            <a:ext cx="59436" cy="1892808"/>
          </a:xfrm>
          <a:prstGeom prst="rect">
            <a:avLst/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160020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  Colaborador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41248" y="2039112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Consulta o catálogo, requisita viaturas e regista receção, entrega, quilómetros e combustível.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17920" y="1453896"/>
            <a:ext cx="5303520" cy="1892808"/>
          </a:xfrm>
          <a:prstGeom prst="roundRect">
            <a:avLst>
              <a:gd name="adj" fmla="val 6280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17920" y="1453896"/>
            <a:ext cx="59436" cy="1892808"/>
          </a:xfrm>
          <a:prstGeom prst="rect">
            <a:avLst/>
          </a:prstGeom>
          <a:solidFill>
            <a:srgbClr val="11A89B"/>
          </a:solidFill>
          <a:ln w="7620">
            <a:solidFill>
              <a:srgbClr val="11A89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0" y="160020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  Coordenador de Frota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400800" y="2039112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Aprova pedidos, atribui viaturas e condutores e acompanha utilização, documentação e orçamentos.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58368" y="3630168"/>
            <a:ext cx="5303520" cy="1892808"/>
          </a:xfrm>
          <a:prstGeom prst="roundRect">
            <a:avLst>
              <a:gd name="adj" fmla="val 6280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8368" y="3630168"/>
            <a:ext cx="59436" cy="1892808"/>
          </a:xfrm>
          <a:prstGeom prst="rect">
            <a:avLst/>
          </a:prstGeom>
          <a:solidFill>
            <a:srgbClr val="F0AE36"/>
          </a:solidFill>
          <a:ln w="7620">
            <a:solidFill>
              <a:srgbClr val="F0AE3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1248" y="3776472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 Técnico de Manutenção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41248" y="4215384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Regista intervenções, peças, custos e histórico de manutenção.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217920" y="3630168"/>
            <a:ext cx="5303520" cy="1892808"/>
          </a:xfrm>
          <a:prstGeom prst="roundRect">
            <a:avLst>
              <a:gd name="adj" fmla="val 6280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17920" y="3630168"/>
            <a:ext cx="59436" cy="1892808"/>
          </a:xfrm>
          <a:prstGeom prst="rect">
            <a:avLst/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0" y="3776472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  Administrador de Sistemas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400800" y="4215384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Gere utilizadores, roles, permissões, serviços externos e logs.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9184"/>
            <a:ext cx="11064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Como funciona uma requisição?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8686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pedido à conclusão da viagem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66928" y="6510528"/>
            <a:ext cx="11064240" cy="10973"/>
          </a:xfrm>
          <a:prstGeom prst="rect">
            <a:avLst/>
          </a:prstGeom>
          <a:solidFill>
            <a:srgbClr val="DDE6F0"/>
          </a:solidFill>
          <a:ln w="7620">
            <a:solidFill>
              <a:srgbClr val="DDE6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655624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FrotaGest  •  PSI 2026/2027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288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12064" y="1920240"/>
            <a:ext cx="2148840" cy="1993392"/>
          </a:xfrm>
          <a:prstGeom prst="roundRect">
            <a:avLst>
              <a:gd name="adj" fmla="val 6422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25296" y="1618488"/>
            <a:ext cx="722376" cy="722376"/>
          </a:xfrm>
          <a:prstGeom prst="roundRect">
            <a:avLst>
              <a:gd name="adj" fmla="val 45570"/>
            </a:avLst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25296" y="1737360"/>
            <a:ext cx="7223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658368" y="2514600"/>
            <a:ext cx="186537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Pesquisar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67512" y="3017520"/>
            <a:ext cx="18379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Viaturas e datas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852928" y="1920240"/>
            <a:ext cx="2148840" cy="1993392"/>
          </a:xfrm>
          <a:prstGeom prst="roundRect">
            <a:avLst>
              <a:gd name="adj" fmla="val 6422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566160" y="1618488"/>
            <a:ext cx="722376" cy="722376"/>
          </a:xfrm>
          <a:prstGeom prst="roundRect">
            <a:avLst>
              <a:gd name="adj" fmla="val 45570"/>
            </a:avLst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66160" y="1737360"/>
            <a:ext cx="7223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2300" dirty="0"/>
          </a:p>
        </p:txBody>
      </p:sp>
      <p:sp>
        <p:nvSpPr>
          <p:cNvPr id="16" name="Text 14"/>
          <p:cNvSpPr/>
          <p:nvPr/>
        </p:nvSpPr>
        <p:spPr>
          <a:xfrm>
            <a:off x="2999232" y="2514600"/>
            <a:ext cx="186537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Requisitar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3008376" y="3017520"/>
            <a:ext cx="18379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Categoria e motivo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193792" y="1920240"/>
            <a:ext cx="2148840" cy="1993392"/>
          </a:xfrm>
          <a:prstGeom prst="roundRect">
            <a:avLst>
              <a:gd name="adj" fmla="val 6422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07024" y="1618488"/>
            <a:ext cx="722376" cy="722376"/>
          </a:xfrm>
          <a:prstGeom prst="roundRect">
            <a:avLst>
              <a:gd name="adj" fmla="val 45570"/>
            </a:avLst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7024" y="1737360"/>
            <a:ext cx="7223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2300" dirty="0"/>
          </a:p>
        </p:txBody>
      </p:sp>
      <p:sp>
        <p:nvSpPr>
          <p:cNvPr id="21" name="Text 19"/>
          <p:cNvSpPr/>
          <p:nvPr/>
        </p:nvSpPr>
        <p:spPr>
          <a:xfrm>
            <a:off x="5340096" y="2514600"/>
            <a:ext cx="186537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Decidir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5349240" y="3017520"/>
            <a:ext cx="18379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Aprovação e atribuição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534656" y="1920240"/>
            <a:ext cx="2148840" cy="1993392"/>
          </a:xfrm>
          <a:prstGeom prst="roundRect">
            <a:avLst>
              <a:gd name="adj" fmla="val 6422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47888" y="1618488"/>
            <a:ext cx="722376" cy="722376"/>
          </a:xfrm>
          <a:prstGeom prst="roundRect">
            <a:avLst>
              <a:gd name="adj" fmla="val 45570"/>
            </a:avLst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47888" y="1737360"/>
            <a:ext cx="7223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2300" dirty="0"/>
          </a:p>
        </p:txBody>
      </p:sp>
      <p:sp>
        <p:nvSpPr>
          <p:cNvPr id="26" name="Text 24"/>
          <p:cNvSpPr/>
          <p:nvPr/>
        </p:nvSpPr>
        <p:spPr>
          <a:xfrm>
            <a:off x="7680960" y="2514600"/>
            <a:ext cx="186537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Utilizar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7690104" y="3017520"/>
            <a:ext cx="18379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QR, check-in e viagem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9875520" y="1920240"/>
            <a:ext cx="2148840" cy="1993392"/>
          </a:xfrm>
          <a:prstGeom prst="roundRect">
            <a:avLst>
              <a:gd name="adj" fmla="val 6422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588752" y="1618488"/>
            <a:ext cx="722376" cy="722376"/>
          </a:xfrm>
          <a:prstGeom prst="roundRect">
            <a:avLst>
              <a:gd name="adj" fmla="val 45570"/>
            </a:avLst>
          </a:prstGeom>
          <a:solidFill>
            <a:srgbClr val="11A89B"/>
          </a:solidFill>
          <a:ln w="7620">
            <a:solidFill>
              <a:srgbClr val="11A89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588752" y="1737360"/>
            <a:ext cx="7223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2300" dirty="0"/>
          </a:p>
        </p:txBody>
      </p:sp>
      <p:sp>
        <p:nvSpPr>
          <p:cNvPr id="31" name="Text 29"/>
          <p:cNvSpPr/>
          <p:nvPr/>
        </p:nvSpPr>
        <p:spPr>
          <a:xfrm>
            <a:off x="10021824" y="2514600"/>
            <a:ext cx="186537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Devolver</a:t>
            </a:r>
            <a:endParaRPr lang="en-US" sz="1900" dirty="0"/>
          </a:p>
        </p:txBody>
      </p:sp>
      <p:sp>
        <p:nvSpPr>
          <p:cNvPr id="32" name="Text 30"/>
          <p:cNvSpPr/>
          <p:nvPr/>
        </p:nvSpPr>
        <p:spPr>
          <a:xfrm>
            <a:off x="10030968" y="3017520"/>
            <a:ext cx="18379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Check-out e histórico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978408" y="4681728"/>
            <a:ext cx="10332720" cy="777240"/>
          </a:xfrm>
          <a:prstGeom prst="roundRect">
            <a:avLst>
              <a:gd name="adj" fmla="val 14118"/>
            </a:avLst>
          </a:prstGeom>
          <a:solidFill>
            <a:srgbClr val="EFF5FF"/>
          </a:solidFill>
          <a:ln w="7620">
            <a:solidFill>
              <a:srgbClr val="EFF5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33856" y="4901184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4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Estados previstos: pendente → aprovada / recusada / cancelada → em curso → concluída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9184"/>
            <a:ext cx="11064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Plataforma Web — pedido e acompanhamento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8686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Nova requisição, validações e histórico individual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66928" y="6510528"/>
            <a:ext cx="11064240" cy="10973"/>
          </a:xfrm>
          <a:prstGeom prst="rect">
            <a:avLst/>
          </a:prstGeom>
          <a:solidFill>
            <a:srgbClr val="DDE6F0"/>
          </a:solidFill>
          <a:ln w="7620">
            <a:solidFill>
              <a:srgbClr val="DDE6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655624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FrotaGest  •  PSI 2026/2027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288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900" dirty="0"/>
          </a:p>
        </p:txBody>
      </p:sp>
      <p:pic>
        <p:nvPicPr>
          <p:cNvPr id="8" name="Image 0" descr="/mnt/data/frotagest_assets/mockup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417320"/>
            <a:ext cx="5513832" cy="4389120"/>
          </a:xfrm>
          <a:prstGeom prst="rect">
            <a:avLst/>
          </a:prstGeom>
        </p:spPr>
      </p:pic>
      <p:pic>
        <p:nvPicPr>
          <p:cNvPr id="9" name="Image 1" descr="/mnt/data/frotagest_assets/mockup0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7648" y="1417320"/>
            <a:ext cx="5257800" cy="438912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740664" y="5797296"/>
            <a:ext cx="1956816" cy="283464"/>
          </a:xfrm>
          <a:prstGeom prst="roundRect">
            <a:avLst>
              <a:gd name="adj" fmla="val 32258"/>
            </a:avLst>
          </a:prstGeom>
          <a:solidFill>
            <a:srgbClr val="EFF5FF"/>
          </a:solidFill>
          <a:ln w="7620">
            <a:solidFill>
              <a:srgbClr val="EFF5FF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832104" y="5829300"/>
            <a:ext cx="177393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NOVA REQUISIÇÃO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6592824" y="5797296"/>
            <a:ext cx="2432304" cy="283464"/>
          </a:xfrm>
          <a:prstGeom prst="roundRect">
            <a:avLst>
              <a:gd name="adj" fmla="val 32258"/>
            </a:avLst>
          </a:prstGeom>
          <a:solidFill>
            <a:srgbClr val="EFF5FF"/>
          </a:solidFill>
          <a:ln w="7620">
            <a:solidFill>
              <a:srgbClr val="EFF5F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684264" y="5829300"/>
            <a:ext cx="22494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 MINHAS REQUISIÇÕES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9184"/>
            <a:ext cx="11064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Back-office — gestão centralizada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8686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Indicadores, controlo operacional e aprovação de pedidos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66928" y="6510528"/>
            <a:ext cx="11064240" cy="10973"/>
          </a:xfrm>
          <a:prstGeom prst="rect">
            <a:avLst/>
          </a:prstGeom>
          <a:solidFill>
            <a:srgbClr val="DDE6F0"/>
          </a:solidFill>
          <a:ln w="7620">
            <a:solidFill>
              <a:srgbClr val="DDE6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655624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FrotaGest  •  PSI 2026/2027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288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900" dirty="0"/>
          </a:p>
        </p:txBody>
      </p:sp>
      <p:pic>
        <p:nvPicPr>
          <p:cNvPr id="8" name="Image 0" descr="/mnt/data/frotagest_assets/mockup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417320"/>
            <a:ext cx="5559552" cy="4407408"/>
          </a:xfrm>
          <a:prstGeom prst="rect">
            <a:avLst/>
          </a:prstGeom>
        </p:spPr>
      </p:pic>
      <p:pic>
        <p:nvPicPr>
          <p:cNvPr id="9" name="Image 1" descr="/mnt/data/frotagest_assets/mockup0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6208" y="1417320"/>
            <a:ext cx="5413248" cy="440740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777240" y="5833872"/>
            <a:ext cx="1335024" cy="283464"/>
          </a:xfrm>
          <a:prstGeom prst="roundRect">
            <a:avLst>
              <a:gd name="adj" fmla="val 32258"/>
            </a:avLst>
          </a:prstGeom>
          <a:solidFill>
            <a:srgbClr val="EFF5FF"/>
          </a:solidFill>
          <a:ln w="7620">
            <a:solidFill>
              <a:srgbClr val="EFF5FF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868680" y="5865876"/>
            <a:ext cx="1152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6473952" y="5833872"/>
            <a:ext cx="2587752" cy="283464"/>
          </a:xfrm>
          <a:prstGeom prst="roundRect">
            <a:avLst>
              <a:gd name="adj" fmla="val 32258"/>
            </a:avLst>
          </a:prstGeom>
          <a:solidFill>
            <a:srgbClr val="EFF5FF"/>
          </a:solidFill>
          <a:ln w="7620">
            <a:solidFill>
              <a:srgbClr val="EFF5F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565392" y="5865876"/>
            <a:ext cx="240487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REQUISIÇÕES PENDENTES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9184"/>
            <a:ext cx="11064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Aplicação Android — acesso em mobilidade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8686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Consulta de pedidos, nova requisição e acompanhamento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66928" y="6510528"/>
            <a:ext cx="11064240" cy="10973"/>
          </a:xfrm>
          <a:prstGeom prst="rect">
            <a:avLst/>
          </a:prstGeom>
          <a:solidFill>
            <a:srgbClr val="DDE6F0"/>
          </a:solidFill>
          <a:ln w="7620">
            <a:solidFill>
              <a:srgbClr val="DDE6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655624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FrotaGest  •  PSI 2026/2027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288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900" dirty="0"/>
          </a:p>
        </p:txBody>
      </p:sp>
      <p:pic>
        <p:nvPicPr>
          <p:cNvPr id="8" name="Image 0" descr="/mnt/data/frotagest_assets/mockup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463040"/>
            <a:ext cx="2880360" cy="4453128"/>
          </a:xfrm>
          <a:prstGeom prst="rect">
            <a:avLst/>
          </a:prstGeom>
        </p:spPr>
      </p:pic>
      <p:pic>
        <p:nvPicPr>
          <p:cNvPr id="9" name="Image 1" descr="/mnt/data/frotagest_assets/mockup2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5152" y="1463040"/>
            <a:ext cx="2880360" cy="4453128"/>
          </a:xfrm>
          <a:prstGeom prst="rect">
            <a:avLst/>
          </a:prstGeom>
        </p:spPr>
      </p:pic>
      <p:pic>
        <p:nvPicPr>
          <p:cNvPr id="10" name="Image 2" descr="/mnt/data/frotagest_assets/mockup28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7616" y="1463040"/>
            <a:ext cx="2880360" cy="4453128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1737360" y="5852160"/>
            <a:ext cx="1179576" cy="283464"/>
          </a:xfrm>
          <a:prstGeom prst="roundRect">
            <a:avLst>
              <a:gd name="adj" fmla="val 32258"/>
            </a:avLst>
          </a:prstGeom>
          <a:solidFill>
            <a:srgbClr val="EFF5FF"/>
          </a:solidFill>
          <a:ln w="7620">
            <a:solidFill>
              <a:srgbClr val="EFF5FF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1828800" y="5884164"/>
            <a:ext cx="99669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PEDIDOS</a:t>
            </a:r>
            <a:endParaRPr lang="en-US" sz="1000" dirty="0"/>
          </a:p>
        </p:txBody>
      </p:sp>
      <p:sp>
        <p:nvSpPr>
          <p:cNvPr id="13" name="Shape 8"/>
          <p:cNvSpPr/>
          <p:nvPr/>
        </p:nvSpPr>
        <p:spPr>
          <a:xfrm>
            <a:off x="5376672" y="5852160"/>
            <a:ext cx="1563624" cy="283464"/>
          </a:xfrm>
          <a:prstGeom prst="roundRect">
            <a:avLst>
              <a:gd name="adj" fmla="val 32258"/>
            </a:avLst>
          </a:prstGeom>
          <a:solidFill>
            <a:srgbClr val="EFF5FF"/>
          </a:solidFill>
          <a:ln w="7620">
            <a:solidFill>
              <a:srgbClr val="EFF5FF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5468112" y="5884164"/>
            <a:ext cx="13807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NOVO PEDIDO</a:t>
            </a:r>
            <a:endParaRPr lang="en-US" sz="1000" dirty="0"/>
          </a:p>
        </p:txBody>
      </p:sp>
      <p:sp>
        <p:nvSpPr>
          <p:cNvPr id="15" name="Shape 10"/>
          <p:cNvSpPr/>
          <p:nvPr/>
        </p:nvSpPr>
        <p:spPr>
          <a:xfrm>
            <a:off x="9198864" y="5852160"/>
            <a:ext cx="1280160" cy="283464"/>
          </a:xfrm>
          <a:prstGeom prst="roundRect">
            <a:avLst>
              <a:gd name="adj" fmla="val 32258"/>
            </a:avLst>
          </a:prstGeom>
          <a:solidFill>
            <a:srgbClr val="EFF5FF"/>
          </a:solidFill>
          <a:ln w="7620">
            <a:solidFill>
              <a:srgbClr val="EFF5FF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9290304" y="5884164"/>
            <a:ext cx="10972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DETALHE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9184"/>
            <a:ext cx="11064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Aplicação Android — utilização da viatura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8686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Check-in, check-out, registos de viagem e sincronização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66928" y="6510528"/>
            <a:ext cx="11064240" cy="10973"/>
          </a:xfrm>
          <a:prstGeom prst="rect">
            <a:avLst/>
          </a:prstGeom>
          <a:solidFill>
            <a:srgbClr val="DDE6F0"/>
          </a:solidFill>
          <a:ln w="7620">
            <a:solidFill>
              <a:srgbClr val="DDE6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655624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FrotaGest  •  PSI 2026/2027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288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900" dirty="0"/>
          </a:p>
        </p:txBody>
      </p:sp>
      <p:pic>
        <p:nvPicPr>
          <p:cNvPr id="8" name="Image 0" descr="/mnt/data/frotagest_assets/mockup2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444752"/>
            <a:ext cx="2926080" cy="4489704"/>
          </a:xfrm>
          <a:prstGeom prst="rect">
            <a:avLst/>
          </a:prstGeom>
        </p:spPr>
      </p:pic>
      <p:pic>
        <p:nvPicPr>
          <p:cNvPr id="9" name="Image 1" descr="/mnt/data/frotagest_assets/mockup3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1728" y="1444752"/>
            <a:ext cx="2926080" cy="4489704"/>
          </a:xfrm>
          <a:prstGeom prst="rect">
            <a:avLst/>
          </a:prstGeom>
        </p:spPr>
      </p:pic>
      <p:pic>
        <p:nvPicPr>
          <p:cNvPr id="10" name="Image 2" descr="/mnt/data/frotagest_assets/mockup3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7616" y="1444752"/>
            <a:ext cx="2926080" cy="448970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1417320" y="5852160"/>
            <a:ext cx="2093976" cy="283464"/>
          </a:xfrm>
          <a:prstGeom prst="roundRect">
            <a:avLst>
              <a:gd name="adj" fmla="val 32258"/>
            </a:avLst>
          </a:prstGeom>
          <a:solidFill>
            <a:srgbClr val="EFF5FF"/>
          </a:solidFill>
          <a:ln w="7620">
            <a:solidFill>
              <a:srgbClr val="EFF5FF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1508760" y="5884164"/>
            <a:ext cx="191109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RECEÇÃO E ENTREGA</a:t>
            </a:r>
            <a:endParaRPr lang="en-US" sz="1000" dirty="0"/>
          </a:p>
        </p:txBody>
      </p:sp>
      <p:sp>
        <p:nvSpPr>
          <p:cNvPr id="13" name="Shape 8"/>
          <p:cNvSpPr/>
          <p:nvPr/>
        </p:nvSpPr>
        <p:spPr>
          <a:xfrm>
            <a:off x="5120640" y="5852160"/>
            <a:ext cx="2048256" cy="283464"/>
          </a:xfrm>
          <a:prstGeom prst="roundRect">
            <a:avLst>
              <a:gd name="adj" fmla="val 32258"/>
            </a:avLst>
          </a:prstGeom>
          <a:solidFill>
            <a:srgbClr val="EFF5FF"/>
          </a:solidFill>
          <a:ln w="7620">
            <a:solidFill>
              <a:srgbClr val="EFF5FF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5212080" y="5884164"/>
            <a:ext cx="186537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VIAGEM EM CURSO</a:t>
            </a:r>
            <a:endParaRPr lang="en-US" sz="1000" dirty="0"/>
          </a:p>
        </p:txBody>
      </p:sp>
      <p:sp>
        <p:nvSpPr>
          <p:cNvPr id="15" name="Shape 10"/>
          <p:cNvSpPr/>
          <p:nvPr/>
        </p:nvSpPr>
        <p:spPr>
          <a:xfrm>
            <a:off x="8686800" y="5852160"/>
            <a:ext cx="2093976" cy="283464"/>
          </a:xfrm>
          <a:prstGeom prst="roundRect">
            <a:avLst>
              <a:gd name="adj" fmla="val 32258"/>
            </a:avLst>
          </a:prstGeom>
          <a:solidFill>
            <a:srgbClr val="EFF5FF"/>
          </a:solidFill>
          <a:ln w="7620">
            <a:solidFill>
              <a:srgbClr val="EFF5FF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8778240" y="5884164"/>
            <a:ext cx="191109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APROVAÇÃO MÓVEL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9184"/>
            <a:ext cx="11064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Funcionalidades diferenciadoras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8686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Mais do que um simples sistema de reservas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66928" y="6510528"/>
            <a:ext cx="11064240" cy="10973"/>
          </a:xfrm>
          <a:prstGeom prst="rect">
            <a:avLst/>
          </a:prstGeom>
          <a:solidFill>
            <a:srgbClr val="DDE6F0"/>
          </a:solidFill>
          <a:ln w="7620">
            <a:solidFill>
              <a:srgbClr val="DDE6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655624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FrotaGest  •  PSI 2026/2027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288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40080" y="1463040"/>
            <a:ext cx="3593592" cy="1847088"/>
          </a:xfrm>
          <a:prstGeom prst="roundRect">
            <a:avLst>
              <a:gd name="adj" fmla="val 6436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463040"/>
            <a:ext cx="59436" cy="1847088"/>
          </a:xfrm>
          <a:prstGeom prst="rect">
            <a:avLst/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1609344"/>
            <a:ext cx="3227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QR Code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22960" y="2048256"/>
            <a:ext cx="32278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Identificação da viatura na app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26280" y="1463040"/>
            <a:ext cx="3593592" cy="1847088"/>
          </a:xfrm>
          <a:prstGeom prst="roundRect">
            <a:avLst>
              <a:gd name="adj" fmla="val 6436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26280" y="1463040"/>
            <a:ext cx="59436" cy="1847088"/>
          </a:xfrm>
          <a:prstGeom prst="rect">
            <a:avLst/>
          </a:prstGeom>
          <a:solidFill>
            <a:srgbClr val="11A89B"/>
          </a:solidFill>
          <a:ln w="7620">
            <a:solidFill>
              <a:srgbClr val="11A89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9160" y="1609344"/>
            <a:ext cx="3227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Registo fotográfico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709160" y="2048256"/>
            <a:ext cx="32278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Evidência no check-in e check-out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412480" y="1463040"/>
            <a:ext cx="3593592" cy="1847088"/>
          </a:xfrm>
          <a:prstGeom prst="roundRect">
            <a:avLst>
              <a:gd name="adj" fmla="val 6436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12480" y="1463040"/>
            <a:ext cx="59436" cy="1847088"/>
          </a:xfrm>
          <a:prstGeom prst="rect">
            <a:avLst/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95360" y="1609344"/>
            <a:ext cx="3227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Registos locais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595360" y="2048256"/>
            <a:ext cx="32278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Guardados no dispositivo (SQLite) e sincronizados com a API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3657600"/>
            <a:ext cx="3593592" cy="1847088"/>
          </a:xfrm>
          <a:prstGeom prst="roundRect">
            <a:avLst>
              <a:gd name="adj" fmla="val 6436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" y="3657600"/>
            <a:ext cx="59436" cy="1847088"/>
          </a:xfrm>
          <a:prstGeom prst="rect">
            <a:avLst/>
          </a:prstGeom>
          <a:solidFill>
            <a:srgbClr val="11A89B"/>
          </a:solidFill>
          <a:ln w="7620">
            <a:solidFill>
              <a:srgbClr val="11A89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3803904"/>
            <a:ext cx="3227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Alertas automáticos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22960" y="4242816"/>
            <a:ext cx="32278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Documentos, inspeções e revisões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526280" y="3657600"/>
            <a:ext cx="3593592" cy="1847088"/>
          </a:xfrm>
          <a:prstGeom prst="roundRect">
            <a:avLst>
              <a:gd name="adj" fmla="val 6436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26280" y="3657600"/>
            <a:ext cx="59436" cy="1847088"/>
          </a:xfrm>
          <a:prstGeom prst="rect">
            <a:avLst/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09160" y="3803904"/>
            <a:ext cx="3227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Geolocalização</a:t>
            </a:r>
            <a:r>
              <a:rPr lang="pt-PT" sz="1300" i="1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(possivelmente)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4709160" y="4242816"/>
            <a:ext cx="32278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avaliar: viaturas em utilização e respetivas rotas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412480" y="3657600"/>
            <a:ext cx="3593592" cy="1847088"/>
          </a:xfrm>
          <a:prstGeom prst="roundRect">
            <a:avLst>
              <a:gd name="adj" fmla="val 6436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412480" y="3657600"/>
            <a:ext cx="59436" cy="1847088"/>
          </a:xfrm>
          <a:prstGeom prst="rect">
            <a:avLst/>
          </a:prstGeom>
          <a:solidFill>
            <a:srgbClr val="11A89B"/>
          </a:solidFill>
          <a:ln w="7620">
            <a:solidFill>
              <a:srgbClr val="11A89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595360" y="3803904"/>
            <a:ext cx="3227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Orçamentos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8595360" y="4242816"/>
            <a:ext cx="32278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Necessidades agrupadas e manutenção associada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9184"/>
            <a:ext cx="11064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Arquitetura do sistema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8686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Três componentes ligados a uma base de dados única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66928" y="6510528"/>
            <a:ext cx="11064240" cy="10973"/>
          </a:xfrm>
          <a:prstGeom prst="rect">
            <a:avLst/>
          </a:prstGeom>
          <a:solidFill>
            <a:srgbClr val="DDE6F0"/>
          </a:solidFill>
          <a:ln w="7620">
            <a:solidFill>
              <a:srgbClr val="DDE6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655624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FrotaGest  •  PSI 2026/2027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288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02920" y="1664208"/>
            <a:ext cx="3593592" cy="1353312"/>
          </a:xfrm>
          <a:prstGeom prst="roundRect">
            <a:avLst>
              <a:gd name="adj" fmla="val 8784"/>
            </a:avLst>
          </a:prstGeom>
          <a:solidFill>
            <a:srgbClr val="10243A"/>
          </a:solidFill>
          <a:ln w="7620">
            <a:solidFill>
              <a:srgbClr val="1024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1929384"/>
            <a:ext cx="3264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 — Yii2 / PHP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67512" y="2404872"/>
            <a:ext cx="3264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9E8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Front-office + back-office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07992" y="1664208"/>
            <a:ext cx="3593592" cy="1353312"/>
          </a:xfrm>
          <a:prstGeom prst="roundRect">
            <a:avLst>
              <a:gd name="adj" fmla="val 8784"/>
            </a:avLst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72584" y="1929384"/>
            <a:ext cx="3264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API REST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4672584" y="2404872"/>
            <a:ext cx="3264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9E8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CRUD e master/detail para a app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513064" y="1664208"/>
            <a:ext cx="3593592" cy="1353312"/>
          </a:xfrm>
          <a:prstGeom prst="roundRect">
            <a:avLst>
              <a:gd name="adj" fmla="val 8784"/>
            </a:avLst>
          </a:prstGeom>
          <a:solidFill>
            <a:srgbClr val="10243A"/>
          </a:solidFill>
          <a:ln w="7620">
            <a:solidFill>
              <a:srgbClr val="1024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77656" y="1929384"/>
            <a:ext cx="3264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 Android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8677656" y="2404872"/>
            <a:ext cx="3264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9E8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Colaborador e coordenador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242816" y="3995928"/>
            <a:ext cx="3712464" cy="1033272"/>
          </a:xfrm>
          <a:prstGeom prst="roundRect">
            <a:avLst>
              <a:gd name="adj" fmla="val 12389"/>
            </a:avLst>
          </a:prstGeom>
          <a:solidFill>
            <a:srgbClr val="11A89B"/>
          </a:solidFill>
          <a:ln w="7620">
            <a:solidFill>
              <a:srgbClr val="11A89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34840" y="4270248"/>
            <a:ext cx="33375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 de dados MySQL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2286000" y="3044952"/>
            <a:ext cx="3803904" cy="941832"/>
          </a:xfrm>
          <a:prstGeom prst="line">
            <a:avLst/>
          </a:prstGeom>
          <a:noFill/>
          <a:ln w="29210">
            <a:solidFill>
              <a:srgbClr val="11A89B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 flipH="1">
            <a:off x="6089904" y="3044952"/>
            <a:ext cx="36576" cy="941832"/>
          </a:xfrm>
          <a:prstGeom prst="line">
            <a:avLst/>
          </a:prstGeom>
          <a:noFill/>
          <a:ln w="29210">
            <a:solidFill>
              <a:srgbClr val="11A89B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 flipH="1">
            <a:off x="6089904" y="3044952"/>
            <a:ext cx="3922776" cy="941832"/>
          </a:xfrm>
          <a:prstGeom prst="line">
            <a:avLst/>
          </a:prstGeom>
          <a:noFill/>
          <a:ln w="29210">
            <a:solidFill>
              <a:srgbClr val="11A89B"/>
            </a:solidFill>
            <a:prstDash val="solid"/>
            <a:headEnd type="none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1133856" y="566013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Notificações em tempo real por messaging (publish/subscribe)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02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11A89B"/>
          </a:solidFill>
          <a:ln w="7620">
            <a:solidFill>
              <a:srgbClr val="11A89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13167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FrotaGest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1024128" y="2331720"/>
            <a:ext cx="10149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C6D9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Uma gestão de frota mais simples, organizada e digital.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084064" y="3419856"/>
            <a:ext cx="2011680" cy="59436"/>
          </a:xfrm>
          <a:prstGeom prst="rect">
            <a:avLst/>
          </a:prstGeom>
          <a:solidFill>
            <a:srgbClr val="11A89B"/>
          </a:solidFill>
          <a:ln w="7620">
            <a:solidFill>
              <a:srgbClr val="11A89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286000" y="4105656"/>
            <a:ext cx="76260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Obrigado!</a:t>
            </a:r>
            <a:endParaRPr lang="en-US" sz="3500" dirty="0"/>
          </a:p>
        </p:txBody>
      </p:sp>
      <p:sp>
        <p:nvSpPr>
          <p:cNvPr id="7" name="Text 5"/>
          <p:cNvSpPr/>
          <p:nvPr/>
        </p:nvSpPr>
        <p:spPr>
          <a:xfrm>
            <a:off x="2926080" y="5010912"/>
            <a:ext cx="6355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C6D9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Questões?</a:t>
            </a:r>
            <a:endParaRPr lang="en-US" sz="2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9184"/>
            <a:ext cx="11064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Aplicação Android — acesso e configuração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8686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Início de sessão, servidor da API e notificações em tempo real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66928" y="6510528"/>
            <a:ext cx="11064240" cy="10973"/>
          </a:xfrm>
          <a:prstGeom prst="rect">
            <a:avLst/>
          </a:prstGeom>
          <a:solidFill>
            <a:srgbClr val="DDE6F0"/>
          </a:solidFill>
          <a:ln w="7620">
            <a:solidFill>
              <a:srgbClr val="DDE6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655624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FrotaGest  •  PSI 2026/2027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288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900" dirty="0"/>
          </a:p>
        </p:txBody>
      </p:sp>
      <p:pic>
        <p:nvPicPr>
          <p:cNvPr id="8" name="Image 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463040"/>
            <a:ext cx="2880360" cy="4453128"/>
          </a:xfrm>
          <a:prstGeom prst="rect">
            <a:avLst/>
          </a:prstGeom>
        </p:spPr>
      </p:pic>
      <p:pic>
        <p:nvPicPr>
          <p:cNvPr id="9" name="Image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5152" y="1463040"/>
            <a:ext cx="2880360" cy="4453128"/>
          </a:xfrm>
          <a:prstGeom prst="rect">
            <a:avLst/>
          </a:prstGeom>
        </p:spPr>
      </p:pic>
      <p:pic>
        <p:nvPicPr>
          <p:cNvPr id="10" name="Image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7616" y="1463040"/>
            <a:ext cx="2880360" cy="4453128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1737360" y="5852160"/>
            <a:ext cx="1179576" cy="283464"/>
          </a:xfrm>
          <a:prstGeom prst="roundRect">
            <a:avLst>
              <a:gd name="adj" fmla="val 32258"/>
            </a:avLst>
          </a:prstGeom>
          <a:solidFill>
            <a:srgbClr val="EFF5FF"/>
          </a:solidFill>
          <a:ln w="7620">
            <a:solidFill>
              <a:srgbClr val="EFF5FF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1828800" y="5884164"/>
            <a:ext cx="99669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LOGIN</a:t>
            </a:r>
            <a:endParaRPr lang="en-US" sz="1000" dirty="0"/>
          </a:p>
        </p:txBody>
      </p:sp>
      <p:sp>
        <p:nvSpPr>
          <p:cNvPr id="13" name="Shape 8"/>
          <p:cNvSpPr/>
          <p:nvPr/>
        </p:nvSpPr>
        <p:spPr>
          <a:xfrm>
            <a:off x="5376672" y="5852160"/>
            <a:ext cx="1563624" cy="283464"/>
          </a:xfrm>
          <a:prstGeom prst="roundRect">
            <a:avLst>
              <a:gd name="adj" fmla="val 32258"/>
            </a:avLst>
          </a:prstGeom>
          <a:solidFill>
            <a:srgbClr val="EFF5FF"/>
          </a:solidFill>
          <a:ln w="7620">
            <a:solidFill>
              <a:srgbClr val="EFF5FF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5468112" y="5884164"/>
            <a:ext cx="13807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CONFIGURAÇÃO</a:t>
            </a:r>
            <a:endParaRPr lang="en-US" sz="1000" dirty="0"/>
          </a:p>
        </p:txBody>
      </p:sp>
      <p:sp>
        <p:nvSpPr>
          <p:cNvPr id="15" name="Shape 10"/>
          <p:cNvSpPr/>
          <p:nvPr/>
        </p:nvSpPr>
        <p:spPr>
          <a:xfrm>
            <a:off x="9057132" y="5852160"/>
            <a:ext cx="1563624" cy="283464"/>
          </a:xfrm>
          <a:prstGeom prst="roundRect">
            <a:avLst>
              <a:gd name="adj" fmla="val 32258"/>
            </a:avLst>
          </a:prstGeom>
          <a:solidFill>
            <a:srgbClr val="EFF5FF"/>
          </a:solidFill>
          <a:ln w="7620">
            <a:solidFill>
              <a:srgbClr val="EFF5FF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9148572" y="5884164"/>
            <a:ext cx="13807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NOTIFICAÇÕES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9184"/>
            <a:ext cx="11064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Planeamento e responsabilidades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8686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Tarefas por elemento do grupo, geridas no Jira em sprints quinzenais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66928" y="6510528"/>
            <a:ext cx="11064240" cy="10973"/>
          </a:xfrm>
          <a:prstGeom prst="rect">
            <a:avLst/>
          </a:prstGeom>
          <a:solidFill>
            <a:srgbClr val="DDE6F0"/>
          </a:solidFill>
          <a:ln w="7620">
            <a:solidFill>
              <a:srgbClr val="DDE6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655624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FrotaGest  •  PSI 2026/2027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288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12648" y="1417320"/>
            <a:ext cx="3456432" cy="3246120"/>
          </a:xfrm>
          <a:prstGeom prst="roundRect">
            <a:avLst>
              <a:gd name="adj" fmla="val 3662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12648" y="1417320"/>
            <a:ext cx="59436" cy="3246120"/>
          </a:xfrm>
          <a:prstGeom prst="rect">
            <a:avLst/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" y="1563624"/>
            <a:ext cx="3090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Vitor Leonardo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95528" y="2002536"/>
            <a:ext cx="309067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>
              <a:spcAft>
                <a:spcPts val="600"/>
              </a:spcAft>
              <a:buFont typeface="Arial"/>
              <a:buChar char="•"/>
            </a:pPr>
            <a:r>
              <a:rPr lang="pt-PT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Manutenção e orçamentos de compra</a:t>
            </a:r>
          </a:p>
          <a:p>
            <a:pPr marL="171450" indent="-171450">
              <a:spcAft>
                <a:spcPts val="600"/>
              </a:spcAft>
              <a:buFont typeface="Arial"/>
              <a:buChar char="•"/>
            </a:pPr>
            <a:r>
              <a:rPr lang="pt-PT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Administração: utilizadores, parâmetros e logs</a:t>
            </a:r>
          </a:p>
          <a:p>
            <a:pPr marL="171450" indent="-171450">
              <a:spcAft>
                <a:spcPts val="600"/>
              </a:spcAft>
              <a:buFont typeface="Arial"/>
              <a:buChar char="•"/>
            </a:pPr>
            <a:r>
              <a:rPr lang="pt-PT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Concluído: projeto Yii2, RBAC, migrações e modelos</a:t>
            </a:r>
          </a:p>
        </p:txBody>
      </p:sp>
      <p:sp>
        <p:nvSpPr>
          <p:cNvPr id="12" name="Shape 10"/>
          <p:cNvSpPr/>
          <p:nvPr/>
        </p:nvSpPr>
        <p:spPr>
          <a:xfrm>
            <a:off x="4361688" y="1417320"/>
            <a:ext cx="3456432" cy="3246120"/>
          </a:xfrm>
          <a:prstGeom prst="roundRect">
            <a:avLst>
              <a:gd name="adj" fmla="val 3662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61688" y="1417320"/>
            <a:ext cx="59436" cy="3246120"/>
          </a:xfrm>
          <a:prstGeom prst="rect">
            <a:avLst/>
          </a:prstGeom>
          <a:solidFill>
            <a:srgbClr val="F0AE36"/>
          </a:solidFill>
          <a:ln w="7620">
            <a:solidFill>
              <a:srgbClr val="F0AE3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44568" y="1563624"/>
            <a:ext cx="3090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Valter Beca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544568" y="2002536"/>
            <a:ext cx="309067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>
              <a:spcAft>
                <a:spcPts val="600"/>
              </a:spcAft>
              <a:buFont typeface="Arial"/>
              <a:buChar char="•"/>
            </a:pPr>
            <a:r>
              <a:rPr lang="pt-PT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Aplicação Android: check-in/out, faturas e QR</a:t>
            </a:r>
          </a:p>
          <a:p>
            <a:pPr marL="171450" indent="-171450">
              <a:spcAft>
                <a:spcPts val="600"/>
              </a:spcAft>
              <a:buFont typeface="Arial"/>
              <a:buChar char="•"/>
            </a:pPr>
            <a:r>
              <a:rPr lang="pt-PT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Autenticação e notificações</a:t>
            </a:r>
          </a:p>
          <a:p>
            <a:pPr marL="171450" indent="-171450">
              <a:spcAft>
                <a:spcPts val="600"/>
              </a:spcAft>
              <a:buFont typeface="Arial"/>
              <a:buChar char="•"/>
            </a:pPr>
            <a:r>
              <a:rPr lang="pt-PT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Aprovação e atribuição de pedidos</a:t>
            </a:r>
          </a:p>
          <a:p>
            <a:pPr marL="171450" indent="-171450">
              <a:spcAft>
                <a:spcPts val="600"/>
              </a:spcAft>
              <a:buFont typeface="Arial"/>
              <a:buChar char="•"/>
            </a:pPr>
            <a:r>
              <a:rPr lang="pt-PT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Concluído: mockups e layout Android</a:t>
            </a:r>
          </a:p>
        </p:txBody>
      </p:sp>
      <p:sp>
        <p:nvSpPr>
          <p:cNvPr id="16" name="Shape 14"/>
          <p:cNvSpPr/>
          <p:nvPr/>
        </p:nvSpPr>
        <p:spPr>
          <a:xfrm>
            <a:off x="8101584" y="1417320"/>
            <a:ext cx="3456432" cy="3246120"/>
          </a:xfrm>
          <a:prstGeom prst="roundRect">
            <a:avLst>
              <a:gd name="adj" fmla="val 3662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01584" y="1417320"/>
            <a:ext cx="59436" cy="3246120"/>
          </a:xfrm>
          <a:prstGeom prst="rect">
            <a:avLst/>
          </a:prstGeom>
          <a:solidFill>
            <a:srgbClr val="11A89B"/>
          </a:solidFill>
          <a:ln w="7620">
            <a:solidFill>
              <a:srgbClr val="11A89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84464" y="1563624"/>
            <a:ext cx="3090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Gustavo Biazini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284464" y="2002536"/>
            <a:ext cx="309067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>
              <a:spcAft>
                <a:spcPts val="600"/>
              </a:spcAft>
              <a:buFont typeface="Arial"/>
              <a:buChar char="•"/>
            </a:pPr>
            <a:r>
              <a:rPr lang="pt-PT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Requisições do colaborador: catálogo, pedido e histórico</a:t>
            </a:r>
          </a:p>
          <a:p>
            <a:pPr marL="171450" indent="-171450">
              <a:spcAft>
                <a:spcPts val="600"/>
              </a:spcAft>
              <a:buFont typeface="Arial"/>
              <a:buChar char="•"/>
            </a:pPr>
            <a:r>
              <a:rPr lang="pt-PT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Frota: viaturas, condutores e documentos</a:t>
            </a:r>
          </a:p>
          <a:p>
            <a:pPr marL="171450" indent="-171450">
              <a:spcAft>
                <a:spcPts val="600"/>
              </a:spcAft>
              <a:buFont typeface="Arial"/>
              <a:buChar char="•"/>
            </a:pPr>
            <a:r>
              <a:rPr lang="pt-PT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Concluído: user stories e registo no Jira</a:t>
            </a:r>
          </a:p>
        </p:txBody>
      </p:sp>
      <p:sp>
        <p:nvSpPr>
          <p:cNvPr id="20" name="Shape 18"/>
          <p:cNvSpPr/>
          <p:nvPr/>
        </p:nvSpPr>
        <p:spPr>
          <a:xfrm>
            <a:off x="1060704" y="5093208"/>
            <a:ext cx="10058400" cy="960120"/>
          </a:xfrm>
          <a:prstGeom prst="roundRect">
            <a:avLst>
              <a:gd name="adj" fmla="val 19048"/>
            </a:avLst>
          </a:prstGeom>
          <a:solidFill>
            <a:srgbClr val="10243A"/>
          </a:solidFill>
          <a:ln w="7620">
            <a:solidFill>
              <a:srgbClr val="10243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44168" y="5312664"/>
            <a:ext cx="94183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PT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Etapa 1 (AMSI): 07/11   •   Deploy 1: 16–20/11   •   Deploy 2: 14–18/12</a:t>
            </a:r>
          </a:p>
          <a:p>
            <a:pPr algn="ctr" indent="0" marL="0">
              <a:buNone/>
            </a:pPr>
            <a:r>
              <a:rPr lang="pt-PT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Deploy 3: 11–16/01   •   Entrega final: 16/01 a 06/02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FrotaGest — Sistema de Gestão e Requisição de Frota</dc:title>
  <dc:subject>Apresentação do sistema FrotaGest</dc:subject>
  <dc:creator>Projeto FrotaGest</dc:creator>
  <cp:lastModifiedBy>Projeto FrotaGest</cp:lastModifiedBy>
  <cp:revision>1</cp:revision>
  <dcterms:created xsi:type="dcterms:W3CDTF">2026-10-20T18:30:15Z</dcterms:created>
  <dcterms:modified xsi:type="dcterms:W3CDTF">2026-10-20T18:30:15Z</dcterms:modified>
</cp:coreProperties>
</file>