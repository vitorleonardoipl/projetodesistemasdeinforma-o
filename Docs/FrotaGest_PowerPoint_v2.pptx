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4" r:id="rId20"/>
    <p:sldId id="258" r:id="rId3"/>
    <p:sldId id="259" r:id="rId4"/>
    <p:sldId id="260" r:id="rId5"/>
    <p:sldId id="262" r:id="rId6"/>
    <p:sldId id="263" r:id="rId7"/>
    <p:sldId id="266" r:id="rId8"/>
    <p:sldId id="267" r:id="rId9"/>
    <p:sldId id="272" r:id="rId10"/>
    <p:sldId id="268" r:id="rId11"/>
    <p:sldId id="269" r:id="rId12"/>
    <p:sldId id="273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0" Type="http://schemas.openxmlformats.org/officeDocument/2006/relationships/slide" Target="slides/slide14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31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786384" y="996696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BCD3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Gestão e Requisição de Frota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2852928"/>
            <a:ext cx="3931920" cy="6400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832104" y="317296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em Sistemas de Informação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2104" y="3675888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TeSP Programação de Sistemas de Informação  |  2.º ano, 1.º semestre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2104" y="60533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Vitor Emanuel Louro Leonardo  •  Valter José Pescadinha Beca  •  Gustavo Biazini</a:t>
            </a:r>
            <a:endParaRPr lang="en-US" sz="12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1F92027-7DC2-E505-5B41-FE83CB1FA2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298" t="49609" r="10503"/>
          <a:stretch>
            <a:fillRect/>
          </a:stretch>
        </p:blipFill>
        <p:spPr>
          <a:xfrm>
            <a:off x="8892353" y="914424"/>
            <a:ext cx="2263327" cy="21305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solução FrotaGest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plataforma integrada para gerir viaturas, pessoas e viagens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pic>
        <p:nvPicPr>
          <p:cNvPr id="8" name="Image 0" descr="/mnt/data/frotagest_assets/hom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5486400" cy="45537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435608"/>
            <a:ext cx="5093208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7"/>
          <p:cNvSpPr/>
          <p:nvPr/>
        </p:nvSpPr>
        <p:spPr>
          <a:xfrm>
            <a:off x="6400800" y="1435608"/>
            <a:ext cx="59436" cy="102412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6583680" y="1581912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83680" y="2020824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viaturas e solicitar períodos de utilização.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2679192"/>
            <a:ext cx="5093208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1"/>
          <p:cNvSpPr/>
          <p:nvPr/>
        </p:nvSpPr>
        <p:spPr>
          <a:xfrm>
            <a:off x="6400800" y="2679192"/>
            <a:ext cx="59436" cy="102412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/>
          <p:nvPr/>
        </p:nvSpPr>
        <p:spPr>
          <a:xfrm>
            <a:off x="6583680" y="2825496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 atribuir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583680" y="3264408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Aprovar pedidos e selecionar condutor e viatura disponível.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3922776"/>
            <a:ext cx="5093208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Shape 15"/>
          <p:cNvSpPr/>
          <p:nvPr/>
        </p:nvSpPr>
        <p:spPr>
          <a:xfrm>
            <a:off x="6400800" y="3922776"/>
            <a:ext cx="59436" cy="1024128"/>
          </a:xfrm>
          <a:prstGeom prst="rect">
            <a:avLst/>
          </a:prstGeom>
          <a:solidFill>
            <a:srgbClr val="F0AE36"/>
          </a:solidFill>
          <a:ln w="7620">
            <a:solidFill>
              <a:srgbClr val="F0AE3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6583680" y="4069080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Acompanhar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83680" y="4507992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Registar viagens, custos, documentos e manutenção.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utiliza o sistema?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Quatro perfis, com responsabilidades e permissões distintas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453896"/>
            <a:ext cx="5303520" cy="1892808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658368" y="1453896"/>
            <a:ext cx="59436" cy="189280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841248" y="1600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Colaborador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203911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o catálogo, requisita viaturas e regista receção, entrega, quilómetros e combustível.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53896"/>
            <a:ext cx="5303520" cy="1892808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6217920" y="1453896"/>
            <a:ext cx="59436" cy="189280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6400800" y="1600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Coordenador de Frota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03911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 pedidos, atribui viaturas e condutores e acompanha utilização, documentação e orçamentos.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630168"/>
            <a:ext cx="5303520" cy="1892808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658368" y="3630168"/>
            <a:ext cx="59436" cy="1892808"/>
          </a:xfrm>
          <a:prstGeom prst="rect">
            <a:avLst/>
          </a:prstGeom>
          <a:solidFill>
            <a:srgbClr val="F0AE36"/>
          </a:solidFill>
          <a:ln w="7620">
            <a:solidFill>
              <a:srgbClr val="F0AE3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841248" y="37764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Técnico de Manutenção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" y="4215384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Regista intervenções, peças, custos e histórico de manutenção.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630168"/>
            <a:ext cx="5303520" cy="1892808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6217920" y="3630168"/>
            <a:ext cx="59436" cy="189280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6400800" y="37764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Administrador de Sistemas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4215384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Gere utilizadores, roles, permissões, serviços externos e logs.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funciona uma requisição?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pedido à conclusão da viagem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1225296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1225296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58368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Pesquisar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7512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Viaturas e datas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52928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3566160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3566160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999232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Requisitar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008376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Categoria e motivo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93792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5907024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5907024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340096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349240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Aprovação e atribuição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34656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8247888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8247888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680960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Utilizar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690104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QR, check-in e viagem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75520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10588752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10588752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10021824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Devolver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0030968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Check-out e histórico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78408" y="4681728"/>
            <a:ext cx="10332720" cy="777240"/>
          </a:xfrm>
          <a:prstGeom prst="roundRect">
            <a:avLst>
              <a:gd name="adj" fmla="val 1411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1133856" y="4901184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previstos: pendente → aprovada / recusada / cancelada → em curso → concluída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Web — pedido e acompanhamento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 requisição, validações e histórico individual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pic>
        <p:nvPicPr>
          <p:cNvPr id="8" name="Image 0" descr="/mnt/data/frotagest_assets/mockup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5513832" cy="4389120"/>
          </a:xfrm>
          <a:prstGeom prst="rect">
            <a:avLst/>
          </a:prstGeom>
        </p:spPr>
      </p:pic>
      <p:pic>
        <p:nvPicPr>
          <p:cNvPr id="9" name="Image 1" descr="/mnt/data/frotagest_assets/mockup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417320"/>
            <a:ext cx="5257800" cy="43891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0664" y="5797296"/>
            <a:ext cx="195681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7"/>
          <p:cNvSpPr/>
          <p:nvPr/>
        </p:nvSpPr>
        <p:spPr>
          <a:xfrm>
            <a:off x="832104" y="5829300"/>
            <a:ext cx="17739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 REQUISIÇÃO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592824" y="5797296"/>
            <a:ext cx="2432304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9"/>
          <p:cNvSpPr/>
          <p:nvPr/>
        </p:nvSpPr>
        <p:spPr>
          <a:xfrm>
            <a:off x="6684264" y="5829300"/>
            <a:ext cx="22494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MINHAS REQUISIÇÕES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Back-office — gestão centralizada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Indicadores, controlo operacional e aprovação de pedidos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pic>
        <p:nvPicPr>
          <p:cNvPr id="8" name="Image 0" descr="/mnt/data/frotagest_assets/mockup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17320"/>
            <a:ext cx="5559552" cy="4407408"/>
          </a:xfrm>
          <a:prstGeom prst="rect">
            <a:avLst/>
          </a:prstGeom>
        </p:spPr>
      </p:pic>
      <p:pic>
        <p:nvPicPr>
          <p:cNvPr id="9" name="Image 1" descr="/mnt/data/frotagest_assets/mockup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417320"/>
            <a:ext cx="5413248" cy="44074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7240" y="5833872"/>
            <a:ext cx="1335024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7"/>
          <p:cNvSpPr/>
          <p:nvPr/>
        </p:nvSpPr>
        <p:spPr>
          <a:xfrm>
            <a:off x="868680" y="5865876"/>
            <a:ext cx="1152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73952" y="5833872"/>
            <a:ext cx="2587752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9"/>
          <p:cNvSpPr/>
          <p:nvPr/>
        </p:nvSpPr>
        <p:spPr>
          <a:xfrm>
            <a:off x="6565392" y="5865876"/>
            <a:ext cx="2404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REQUISIÇÕES PENDENTES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 Android — acesso em mobilidade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de pedidos, nova requisição e acompanhamento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pic>
        <p:nvPicPr>
          <p:cNvPr id="8" name="Image 0" descr="/mnt/data/frotagest_assets/mockup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2880360" cy="4453128"/>
          </a:xfrm>
          <a:prstGeom prst="rect">
            <a:avLst/>
          </a:prstGeom>
        </p:spPr>
      </p:pic>
      <p:pic>
        <p:nvPicPr>
          <p:cNvPr id="9" name="Image 1" descr="/mnt/data/frotagest_assets/mockup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463040"/>
            <a:ext cx="2880360" cy="4453128"/>
          </a:xfrm>
          <a:prstGeom prst="rect">
            <a:avLst/>
          </a:prstGeom>
        </p:spPr>
      </p:pic>
      <p:pic>
        <p:nvPicPr>
          <p:cNvPr id="10" name="Image 2" descr="/mnt/data/frotagest_assets/mockup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1463040"/>
            <a:ext cx="2880360" cy="44531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737360" y="5852160"/>
            <a:ext cx="117957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7"/>
          <p:cNvSpPr/>
          <p:nvPr/>
        </p:nvSpPr>
        <p:spPr>
          <a:xfrm>
            <a:off x="1828800" y="5884164"/>
            <a:ext cx="9966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376672" y="5852160"/>
            <a:ext cx="1563624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9"/>
          <p:cNvSpPr/>
          <p:nvPr/>
        </p:nvSpPr>
        <p:spPr>
          <a:xfrm>
            <a:off x="5468112" y="5884164"/>
            <a:ext cx="13807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NOVO PEDIDO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9198864" y="5852160"/>
            <a:ext cx="1280160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1"/>
          <p:cNvSpPr/>
          <p:nvPr/>
        </p:nvSpPr>
        <p:spPr>
          <a:xfrm>
            <a:off x="9290304" y="5884164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DETALHE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 Android — utilização da viatura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Check-in, check-out, registos de viagem e sincronização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pic>
        <p:nvPicPr>
          <p:cNvPr id="8" name="Image 0" descr="/mnt/data/frotagest_assets/mockup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44752"/>
            <a:ext cx="2926080" cy="4489704"/>
          </a:xfrm>
          <a:prstGeom prst="rect">
            <a:avLst/>
          </a:prstGeom>
        </p:spPr>
      </p:pic>
      <p:pic>
        <p:nvPicPr>
          <p:cNvPr id="9" name="Image 1" descr="/mnt/data/frotagest_assets/mockup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444752"/>
            <a:ext cx="2926080" cy="4489704"/>
          </a:xfrm>
          <a:prstGeom prst="rect">
            <a:avLst/>
          </a:prstGeom>
        </p:spPr>
      </p:pic>
      <p:pic>
        <p:nvPicPr>
          <p:cNvPr id="10" name="Image 2" descr="/mnt/data/frotagest_assets/mockup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1444752"/>
            <a:ext cx="2926080" cy="448970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417320" y="5852160"/>
            <a:ext cx="209397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7"/>
          <p:cNvSpPr/>
          <p:nvPr/>
        </p:nvSpPr>
        <p:spPr>
          <a:xfrm>
            <a:off x="1508760" y="5884164"/>
            <a:ext cx="1911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RECEÇÃO E ENTREGA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120640" y="5852160"/>
            <a:ext cx="204825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9"/>
          <p:cNvSpPr/>
          <p:nvPr/>
        </p:nvSpPr>
        <p:spPr>
          <a:xfrm>
            <a:off x="5212080" y="5884164"/>
            <a:ext cx="1865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VIAGEM EM CURSO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686800" y="5852160"/>
            <a:ext cx="209397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1"/>
          <p:cNvSpPr/>
          <p:nvPr/>
        </p:nvSpPr>
        <p:spPr>
          <a:xfrm>
            <a:off x="8778240" y="5884164"/>
            <a:ext cx="1911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APROVAÇÃO MÓVEL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 Android — acesso e configuração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Início de sessão, servidor da API e notificações em tempo real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2880360" cy="4453128"/>
          </a:xfrm>
          <a:prstGeom prst="rect">
            <a:avLst/>
          </a:prstGeom>
        </p:spPr>
      </p:pic>
      <p:pic>
        <p:nvPicPr>
          <p:cNvPr id="9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463040"/>
            <a:ext cx="2880360" cy="4453128"/>
          </a:xfrm>
          <a:prstGeom prst="rect">
            <a:avLst/>
          </a:prstGeom>
        </p:spPr>
      </p:pic>
      <p:pic>
        <p:nvPicPr>
          <p:cNvPr id="10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463040"/>
            <a:ext cx="2880360" cy="44531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737360" y="5852160"/>
            <a:ext cx="117957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7"/>
          <p:cNvSpPr/>
          <p:nvPr/>
        </p:nvSpPr>
        <p:spPr>
          <a:xfrm>
            <a:off x="1828800" y="5884164"/>
            <a:ext cx="9966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376672" y="5852160"/>
            <a:ext cx="1563624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9"/>
          <p:cNvSpPr/>
          <p:nvPr/>
        </p:nvSpPr>
        <p:spPr>
          <a:xfrm>
            <a:off x="5468112" y="5884164"/>
            <a:ext cx="13807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CONFIGURAÇÃO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9057132" y="5852160"/>
            <a:ext cx="1563624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1"/>
          <p:cNvSpPr/>
          <p:nvPr/>
        </p:nvSpPr>
        <p:spPr>
          <a:xfrm>
            <a:off x="9148572" y="5884164"/>
            <a:ext cx="13807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NOTIFICAÇÕES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 diferenciadoras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do que um simples sistema de reservas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59436" cy="184708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822960" y="160934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04825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Identificação da viatura na 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46304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4526280" y="1463040"/>
            <a:ext cx="59436" cy="184708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709160" y="160934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Registo fotográfico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9160" y="204825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no check-in e check-out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146304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8412480" y="1463040"/>
            <a:ext cx="59436" cy="184708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8595360" y="160934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Registos locais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0" y="204825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Guardados no dispositivo (SQLite) e sincronizados com a API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59436" cy="184708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822960" y="380390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automáticos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424281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Documentos, inspeções e revisões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26280" y="365760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4526280" y="3657600"/>
            <a:ext cx="59436" cy="184708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709160" y="380390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Geolocalização</a:t>
            </a:r>
            <a:r>
              <a:rPr lang="pt-PT" sz="1300" i="1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(possivelmente)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709160" y="424281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avaliar: viaturas em utilização e respetivas rotas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12480" y="365760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8412480" y="3657600"/>
            <a:ext cx="59436" cy="184708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8595360" y="380390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Orçamentos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595360" y="424281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Necessidades agrupadas e manutenção associada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do sistema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Três componentes ligados a uma base de dados única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3593592" cy="1353312"/>
          </a:xfrm>
          <a:prstGeom prst="roundRect">
            <a:avLst>
              <a:gd name="adj" fmla="val 8784"/>
            </a:avLst>
          </a:prstGeom>
          <a:solidFill>
            <a:srgbClr val="10243A"/>
          </a:solidFill>
          <a:ln w="7620">
            <a:solidFill>
              <a:srgbClr val="10243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667512" y="1929384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— Yii2 / PHP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7512" y="240487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Front-office + back-office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7992" y="1664208"/>
            <a:ext cx="3593592" cy="1353312"/>
          </a:xfrm>
          <a:prstGeom prst="roundRect">
            <a:avLst>
              <a:gd name="adj" fmla="val 8784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4672584" y="1929384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REST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72584" y="240487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e master/detail para a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13064" y="1664208"/>
            <a:ext cx="3593592" cy="1353312"/>
          </a:xfrm>
          <a:prstGeom prst="roundRect">
            <a:avLst>
              <a:gd name="adj" fmla="val 8784"/>
            </a:avLst>
          </a:prstGeom>
          <a:solidFill>
            <a:srgbClr val="10243A"/>
          </a:solidFill>
          <a:ln w="7620">
            <a:solidFill>
              <a:srgbClr val="10243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8677656" y="1929384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Android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77656" y="240487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Colaborador e coordenador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42816" y="3995928"/>
            <a:ext cx="3712464" cy="1033272"/>
          </a:xfrm>
          <a:prstGeom prst="roundRect">
            <a:avLst>
              <a:gd name="adj" fmla="val 12389"/>
            </a:avLst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434840" y="427024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dados MySQL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2286000" y="3044952"/>
            <a:ext cx="3803904" cy="941832"/>
          </a:xfrm>
          <a:prstGeom prst="line">
            <a:avLst/>
          </a:prstGeom>
          <a:noFill/>
          <a:ln w="29210">
            <a:solidFill>
              <a:srgbClr val="11A8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 flipH="1">
            <a:off x="6089904" y="3044952"/>
            <a:ext cx="36576" cy="941832"/>
          </a:xfrm>
          <a:prstGeom prst="line">
            <a:avLst/>
          </a:prstGeom>
          <a:noFill/>
          <a:ln w="29210">
            <a:solidFill>
              <a:srgbClr val="11A8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 flipH="1">
            <a:off x="6089904" y="3044952"/>
            <a:ext cx="3922776" cy="941832"/>
          </a:xfrm>
          <a:prstGeom prst="line">
            <a:avLst/>
          </a:prstGeom>
          <a:noFill/>
          <a:ln w="29210">
            <a:solidFill>
              <a:srgbClr val="11A8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1133856" y="56601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Notificações em tempo real por messaging (publish/subscribe)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Planeamento e responsabilidades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Tarefas por elemento do grupo, geridas no Jira em sprints quinzenais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" y="1417320"/>
            <a:ext cx="3456432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612648" y="1417320"/>
            <a:ext cx="59436" cy="3246120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795528" y="15636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Vitor Leonardo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2002536"/>
            <a:ext cx="309067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pt-PT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Manutenção e orçamentos de compra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pt-PT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Administração: utilizadores, parâmetros e logs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pt-PT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Concluído: projeto Yii2, RBAC, migrações e modelos</a:t>
            </a:r>
          </a:p>
        </p:txBody>
      </p:sp>
      <p:sp>
        <p:nvSpPr>
          <p:cNvPr id="12" name="Shape 10"/>
          <p:cNvSpPr/>
          <p:nvPr/>
        </p:nvSpPr>
        <p:spPr>
          <a:xfrm>
            <a:off x="4361688" y="1417320"/>
            <a:ext cx="3456432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4361688" y="1417320"/>
            <a:ext cx="59436" cy="3246120"/>
          </a:xfrm>
          <a:prstGeom prst="rect">
            <a:avLst/>
          </a:prstGeom>
          <a:solidFill>
            <a:srgbClr val="F0AE36"/>
          </a:solidFill>
          <a:ln w="7620">
            <a:solidFill>
              <a:srgbClr val="F0AE3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544568" y="15636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Valter Beca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44568" y="2002536"/>
            <a:ext cx="309067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pt-PT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 Android: check-in/out, faturas e QR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pt-PT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Autenticação e notificações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pt-PT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Aprovação e atribuição de pedidos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pt-PT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Concluído: mockups e layout Android</a:t>
            </a:r>
          </a:p>
        </p:txBody>
      </p:sp>
      <p:sp>
        <p:nvSpPr>
          <p:cNvPr id="16" name="Shape 14"/>
          <p:cNvSpPr/>
          <p:nvPr/>
        </p:nvSpPr>
        <p:spPr>
          <a:xfrm>
            <a:off x="8101584" y="1417320"/>
            <a:ext cx="3456432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8101584" y="1417320"/>
            <a:ext cx="59436" cy="3246120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8284464" y="15636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Gustavo Biazini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84464" y="2002536"/>
            <a:ext cx="309067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pt-PT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Requisições do colaborador: catálogo, pedido e histórico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pt-PT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Frota: viaturas, condutores e documentos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pt-PT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Concluído: user stories e registo no Jira</a:t>
            </a:r>
          </a:p>
        </p:txBody>
      </p:sp>
      <p:sp>
        <p:nvSpPr>
          <p:cNvPr id="20" name="Shape 18"/>
          <p:cNvSpPr/>
          <p:nvPr/>
        </p:nvSpPr>
        <p:spPr>
          <a:xfrm>
            <a:off x="1060704" y="5093208"/>
            <a:ext cx="10058400" cy="960120"/>
          </a:xfrm>
          <a:prstGeom prst="roundRect">
            <a:avLst>
              <a:gd name="adj" fmla="val 19048"/>
            </a:avLst>
          </a:prstGeom>
          <a:solidFill>
            <a:srgbClr val="10243A"/>
          </a:solidFill>
          <a:ln w="7620">
            <a:solidFill>
              <a:srgbClr val="10243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1344168" y="5312664"/>
            <a:ext cx="9418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1 (AMSI): 07/11   •   Deploy 1: 16–20/11   •   Deploy 2: 14–18/12</a:t>
            </a:r>
          </a:p>
          <a:p>
            <a:pPr marL="0" indent="0" algn="ctr">
              <a:buNone/>
            </a:pPr>
            <a:r>
              <a:rPr lang="pt-PT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3: 11–16/01   •   Entrega final: 16/01 a 06/02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841248" y="13167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24128" y="233172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6D9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gestão de frota mais simples, organizada e digital.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84064" y="3419856"/>
            <a:ext cx="2011680" cy="59436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2286000" y="4105656"/>
            <a:ext cx="7626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Obrigado!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2926080" y="5010912"/>
            <a:ext cx="6355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C6D9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Questões?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vamos apresentar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1225296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1225296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58368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Solução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7512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 e perfis de utilizador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52928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3566160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3566160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999232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Requisição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008376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pedido à devolução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93792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5907024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5907024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340096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Web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349240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Front-office e back-office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34656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8247888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8247888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680960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Android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690104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Pedidos, viatura e configuração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75520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10588752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10588752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10021824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0030968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Funcionalidades, arquitetura e planeamento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78408" y="4681728"/>
            <a:ext cx="10332720" cy="777240"/>
          </a:xfrm>
          <a:prstGeom prst="roundRect">
            <a:avLst>
              <a:gd name="adj" fmla="val 1411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1133856" y="4901184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Duração: 5 minutos   •   Vitor Leonardo, Valter Beca e Gustavo Biazini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627</Words>
  <Application>Microsoft Office PowerPoint</Application>
  <PresentationFormat>Ecrã Panorâmico</PresentationFormat>
  <Paragraphs>142</Paragraphs>
  <Slides>13</Slides>
  <Notes>11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FrotaGest — Sistema de Gestão e Requisição de Frota</dc:title>
  <dc:subject>Apresentação do sistema FrotaGest</dc:subject>
  <dc:creator>Projeto FrotaGest</dc:creator>
  <cp:lastModifiedBy>Gustavo Boiça Biazini</cp:lastModifiedBy>
  <cp:revision>2</cp:revision>
  <dcterms:created xsi:type="dcterms:W3CDTF">2026-10-20T18:30:15Z</dcterms:created>
  <dcterms:modified xsi:type="dcterms:W3CDTF">2026-10-27T19:42:04Z</dcterms:modified>
</cp:coreProperties>
</file>