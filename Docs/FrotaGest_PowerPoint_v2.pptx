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58" r:id="rId4"/>
    <p:sldId id="259" r:id="rId5"/>
    <p:sldId id="260" r:id="rId6"/>
    <p:sldId id="262" r:id="rId7"/>
    <p:sldId id="263" r:id="rId8"/>
    <p:sldId id="266" r:id="rId9"/>
    <p:sldId id="267" r:id="rId10"/>
    <p:sldId id="272" r:id="rId11"/>
    <p:sldId id="268" r:id="rId12"/>
    <p:sldId id="269" r:id="rId13"/>
    <p:sldId id="273" r:id="rId14"/>
    <p:sldId id="27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731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786384" y="99669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BCD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de Gestão e Requisição de Frota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2852928"/>
            <a:ext cx="3931920" cy="640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832104" y="3172968"/>
            <a:ext cx="8229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em Sistemas de Informação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32104" y="367588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BD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TeSP Programação de Sistemas de Informação  |  2.º ano, 1.º semestre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Emanuel Louro Leonardo  •  Valter José Pescadinha Beca  •  Gustavo Biazini</a:t>
            </a:r>
            <a:endParaRPr lang="en-US" sz="12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1F92027-7DC2-E505-5B41-FE83CB1FA2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298" t="49609" r="10503"/>
          <a:stretch>
            <a:fillRect/>
          </a:stretch>
        </p:blipFill>
        <p:spPr>
          <a:xfrm>
            <a:off x="8892353" y="914424"/>
            <a:ext cx="2263327" cy="21305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Índice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vamos apresentar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Solução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Proposta e perfis de utilizador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Requisição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devolução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 e back-office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Pedidos, viatura e configuração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Funcionalidades, arquitetura e planeamento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 FrotaGest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plataforma integrada para gerir viaturas, pessoas e viagens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pic>
        <p:nvPicPr>
          <p:cNvPr id="8" name="Image 0" descr="/mnt/data/frotagest_assets/hom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5486400" cy="45537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435608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Shape 7"/>
          <p:cNvSpPr/>
          <p:nvPr/>
        </p:nvSpPr>
        <p:spPr>
          <a:xfrm>
            <a:off x="6400800" y="1435608"/>
            <a:ext cx="59436" cy="102412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8"/>
          <p:cNvSpPr/>
          <p:nvPr/>
        </p:nvSpPr>
        <p:spPr>
          <a:xfrm>
            <a:off x="6583680" y="1581912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583680" y="2020824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viaturas e solicitar períodos de utilização.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0" y="2679192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1"/>
          <p:cNvSpPr/>
          <p:nvPr/>
        </p:nvSpPr>
        <p:spPr>
          <a:xfrm>
            <a:off x="6400800" y="2679192"/>
            <a:ext cx="59436" cy="102412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2"/>
          <p:cNvSpPr/>
          <p:nvPr/>
        </p:nvSpPr>
        <p:spPr>
          <a:xfrm>
            <a:off x="6583680" y="2825496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 atribuir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583680" y="3264408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Aprovar pedidos e selecionar condutor e viatura disponível.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22776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Shape 15"/>
          <p:cNvSpPr/>
          <p:nvPr/>
        </p:nvSpPr>
        <p:spPr>
          <a:xfrm>
            <a:off x="6400800" y="3922776"/>
            <a:ext cx="59436" cy="102412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16"/>
          <p:cNvSpPr/>
          <p:nvPr/>
        </p:nvSpPr>
        <p:spPr>
          <a:xfrm>
            <a:off x="6583680" y="4069080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Acompanhar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583680" y="4507992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Registar viagens, custos, documentos e manutenção.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utiliza o sistema?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Quatro perfis, com responsabilidades e permissões distintas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58368" y="1453896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41248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Colaborador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o catálogo, requisita viaturas e regista receção, entrega, quilómetros e combustível.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6217920" y="1453896"/>
            <a:ext cx="59436" cy="18928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Coordenador de Frota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0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 pedidos, atribui viaturas e condutores e acompanha utilização, documentação e orçamentos.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658368" y="3630168"/>
            <a:ext cx="59436" cy="189280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41248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Técnico de Manutenção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 intervenções, peças, custos e histórico de manutenção.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217920" y="3630168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400800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Administrador de Sistemas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00800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Gere utilizadores, roles, permissões, serviços externos e logs.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 uma requisição?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conclusão da viagem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Pesquisar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Viaturas e datas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Requisitar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Categoria e motivo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Utilizar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QR, check-in e viagem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Devolver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Check-out e histórico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8408" y="4681728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32"/>
          <p:cNvSpPr/>
          <p:nvPr/>
        </p:nvSpPr>
        <p:spPr>
          <a:xfrm>
            <a:off x="1133856" y="490118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Estados previstos: pendente → aprovada / recusada / cancelada → em curso → concluída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 — pedido e acompanhamento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requisição, validações e histórico individual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pic>
        <p:nvPicPr>
          <p:cNvPr id="8" name="Image 0" descr="/mnt/data/frotagest_assets/mockup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7320"/>
            <a:ext cx="5513832" cy="4389120"/>
          </a:xfrm>
          <a:prstGeom prst="rect">
            <a:avLst/>
          </a:prstGeom>
        </p:spPr>
      </p:pic>
      <p:pic>
        <p:nvPicPr>
          <p:cNvPr id="9" name="Image 1" descr="/mnt/data/frotagest_assets/mockup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417320"/>
            <a:ext cx="5257800" cy="43891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0664" y="5797296"/>
            <a:ext cx="195681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32104" y="5829300"/>
            <a:ext cx="17739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592824" y="5797296"/>
            <a:ext cx="243230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684264" y="5829300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MINHAS REQUISIÇÕES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Back-office — gestão centralizada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Indicadores, controlo operacional e aprovação de pedidos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frotagest_assets/mockup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417320"/>
            <a:ext cx="5559552" cy="4407408"/>
          </a:xfrm>
          <a:prstGeom prst="rect">
            <a:avLst/>
          </a:prstGeom>
        </p:spPr>
      </p:pic>
      <p:pic>
        <p:nvPicPr>
          <p:cNvPr id="9" name="Image 1" descr="/mnt/data/frotagest_assets/mockup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417320"/>
            <a:ext cx="5413248" cy="44074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7240" y="5833872"/>
            <a:ext cx="13350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68680" y="5865876"/>
            <a:ext cx="1152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73952" y="5833872"/>
            <a:ext cx="2587752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565392" y="5865876"/>
            <a:ext cx="2404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PENDENTES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em mobilidade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de pedidos, nova requisição e acompanhamento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pic>
        <p:nvPicPr>
          <p:cNvPr id="8" name="Image 0" descr="/mnt/data/frotagest_assets/mockup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 descr="/mnt/data/frotagest_assets/mockup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 descr="/mnt/data/frotagest_assets/mockup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NOVO PEDIDO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198864" y="5852160"/>
            <a:ext cx="1280160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290304" y="58841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DETALHE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utilização da viatura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Check-in, check-out, registos de viagem e sincronização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pic>
        <p:nvPicPr>
          <p:cNvPr id="8" name="Image 0" descr="/mnt/data/frotagest_assets/mockup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44752"/>
            <a:ext cx="2926080" cy="4489704"/>
          </a:xfrm>
          <a:prstGeom prst="rect">
            <a:avLst/>
          </a:prstGeom>
        </p:spPr>
      </p:pic>
      <p:pic>
        <p:nvPicPr>
          <p:cNvPr id="9" name="Image 1" descr="/mnt/data/frotagest_assets/mockup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1444752"/>
            <a:ext cx="2926080" cy="4489704"/>
          </a:xfrm>
          <a:prstGeom prst="rect">
            <a:avLst/>
          </a:prstGeom>
        </p:spPr>
      </p:pic>
      <p:pic>
        <p:nvPicPr>
          <p:cNvPr id="10" name="Image 2" descr="/mnt/data/frotagest_assets/mockup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44752"/>
            <a:ext cx="2926080" cy="4489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41732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50876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RECEÇÃO E ENTREGA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120640" y="5852160"/>
            <a:ext cx="204825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212080" y="5884164"/>
            <a:ext cx="18653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VIAGEM EM CURSO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877824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MÓVEL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 configuração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Início de sessão, servidor da API e notificações em tempo real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LOGIN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05713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14857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 diferenciadoras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Mais do que um simples sistema de reservas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229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Code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Identificação da viatura na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26280" y="146304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7091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 fotográfico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91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no check-in e check-out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4124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5953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Registos locais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Guardados no dispositivo (SQLite) e sincronizados com a API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400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8229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Alertas automáticos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Documentos, inspeções e revisões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262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526280" y="365760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7091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Geolocalização</a:t>
            </a:r>
            <a:r>
              <a:rPr lang="pt-PT" sz="1300" i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(possivelmente)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7091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avaliar: viaturas em utilização e respetivas rotas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124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84124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85953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Orçamentos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5953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Necessidades agrupadas e manutenção associada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 do sistema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 do enunciado: app móvel, API, aplicação web e base de dados única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3200400" y="1417320"/>
            <a:ext cx="5577840" cy="4846320"/>
          </a:xfrm>
          <a:prstGeom prst="roundRect">
            <a:avLst>
              <a:gd name="adj" fmla="val 3500"/>
            </a:avLst>
          </a:prstGeom>
          <a:solidFill>
            <a:srgbClr val="EAF1FD"/>
          </a:solidFill>
          <a:ln w="7620">
            <a:solidFill>
              <a:srgbClr val="B8CDF2"/>
            </a:solidFill>
            <a:prstDash val="solid"/>
          </a:ln>
        </p:spPr>
      </p:sp>
      <p:sp>
        <p:nvSpPr>
          <p:cNvPr id="102" name="Text 102"/>
          <p:cNvSpPr txBox="1"/>
          <p:nvPr/>
        </p:nvSpPr>
        <p:spPr>
          <a:xfrm>
            <a:off x="3383280" y="1537320"/>
            <a:ext cx="521208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marL="0" indent="0">
              <a:spcAft>
                <a:spcPts val="0"/>
              </a:spcAft>
              <a:buNone/>
            </a:pPr>
            <a:r>
              <a:rPr lang="pt-PT" sz="13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 de produção (ESTG)</a:t>
            </a:r>
          </a:p>
        </p:txBody>
      </p:sp>
      <p:sp>
        <p:nvSpPr>
          <p:cNvPr id="103" name="Shape 103"/>
          <p:cNvSpPr/>
          <p:nvPr/>
        </p:nvSpPr>
        <p:spPr>
          <a:xfrm>
            <a:off x="3383280" y="1874520"/>
            <a:ext cx="2468880" cy="384048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5B6A7D"/>
            </a:solidFill>
            <a:prstDash val="dash"/>
          </a:ln>
        </p:spPr>
      </p:sp>
      <p:sp>
        <p:nvSpPr>
          <p:cNvPr id="104" name="Shape 104"/>
          <p:cNvSpPr/>
          <p:nvPr/>
        </p:nvSpPr>
        <p:spPr>
          <a:xfrm>
            <a:off x="3520440" y="2103120"/>
            <a:ext cx="2194560" cy="1188720"/>
          </a:xfrm>
          <a:prstGeom prst="roundRect">
            <a:avLst>
              <a:gd name="adj" fmla="val 8784"/>
            </a:avLst>
          </a:prstGeom>
          <a:solidFill>
            <a:srgbClr val="2463EB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3610440" y="2273120"/>
            <a:ext cx="2014560" cy="84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300"/>
              </a:spcAft>
              <a:buNone/>
            </a:pPr>
            <a:r>
              <a:rPr lang="pt-PT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lang="pt-PT" sz="1100" dirty="0">
                <a:solidFill>
                  <a:srgbClr val="DCE6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e master/detail</a:t>
            </a:r>
          </a:p>
        </p:txBody>
      </p:sp>
      <p:sp>
        <p:nvSpPr>
          <p:cNvPr id="106" name="Shape 106"/>
          <p:cNvSpPr/>
          <p:nvPr/>
        </p:nvSpPr>
        <p:spPr>
          <a:xfrm>
            <a:off x="3520440" y="3794760"/>
            <a:ext cx="2194560" cy="1188720"/>
          </a:xfrm>
          <a:prstGeom prst="roundRect">
            <a:avLst>
              <a:gd name="adj" fmla="val 8784"/>
            </a:avLst>
          </a:prstGeom>
          <a:solidFill>
            <a:srgbClr val="FFFFFF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07" name="Text 107"/>
          <p:cNvSpPr txBox="1"/>
          <p:nvPr/>
        </p:nvSpPr>
        <p:spPr>
          <a:xfrm>
            <a:off x="3610440" y="3964760"/>
            <a:ext cx="2014560" cy="84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300"/>
              </a:spcAft>
              <a:buNone/>
            </a:pPr>
            <a:r>
              <a:rPr lang="pt-PT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lang="pt-PT" sz="11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Publish/subscribe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3383280" y="5394960"/>
            <a:ext cx="233172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 marL="0" indent="0">
              <a:spcAft>
                <a:spcPts val="0"/>
              </a:spcAft>
              <a:buNone/>
            </a:pPr>
            <a:r>
              <a:rPr lang="pt-PT" sz="11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</a:t>
            </a:r>
          </a:p>
        </p:txBody>
      </p:sp>
      <p:sp>
        <p:nvSpPr>
          <p:cNvPr id="109" name="Shape 109"/>
          <p:cNvSpPr/>
          <p:nvPr/>
        </p:nvSpPr>
        <p:spPr>
          <a:xfrm>
            <a:off x="6126480" y="1874520"/>
            <a:ext cx="2468880" cy="384048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5B6A7D"/>
            </a:solidFill>
            <a:prstDash val="dash"/>
          </a:ln>
        </p:spPr>
      </p:sp>
      <p:sp>
        <p:nvSpPr>
          <p:cNvPr id="110" name="Shape 110"/>
          <p:cNvSpPr/>
          <p:nvPr/>
        </p:nvSpPr>
        <p:spPr>
          <a:xfrm>
            <a:off x="6263640" y="2103120"/>
            <a:ext cx="2194560" cy="1188720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6353640" y="2273120"/>
            <a:ext cx="2014560" cy="84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300"/>
              </a:spcAft>
              <a:buNone/>
            </a:pPr>
            <a:r>
              <a:rPr lang="pt-PT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lang="pt-PT" sz="1100" dirty="0">
                <a:solidFill>
                  <a:srgbClr val="DCE6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</a:t>
            </a:r>
          </a:p>
        </p:txBody>
      </p:sp>
      <p:sp>
        <p:nvSpPr>
          <p:cNvPr id="112" name="Shape 112"/>
          <p:cNvSpPr/>
          <p:nvPr/>
        </p:nvSpPr>
        <p:spPr>
          <a:xfrm>
            <a:off x="6263640" y="3794760"/>
            <a:ext cx="2194560" cy="1188720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6353640" y="3964760"/>
            <a:ext cx="2014560" cy="84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300"/>
              </a:spcAft>
              <a:buNone/>
            </a:pPr>
            <a:r>
              <a:rPr lang="pt-PT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Back-office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lang="pt-PT" sz="1100" dirty="0">
                <a:solidFill>
                  <a:srgbClr val="DCE6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Coordenador, técnico e admin</a:t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6126480" y="5394960"/>
            <a:ext cx="233172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 marL="0" indent="0">
              <a:spcAft>
                <a:spcPts val="0"/>
              </a:spcAft>
              <a:buNone/>
            </a:pPr>
            <a:r>
              <a:rPr lang="pt-PT" sz="11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PLSI</a:t>
            </a:r>
          </a:p>
        </p:txBody>
      </p:sp>
      <p:sp>
        <p:nvSpPr>
          <p:cNvPr id="115" name="Text 115"/>
          <p:cNvSpPr txBox="1"/>
          <p:nvPr/>
        </p:nvSpPr>
        <p:spPr>
          <a:xfrm>
            <a:off x="3383280" y="580644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0"/>
              </a:spcAft>
              <a:buNone/>
            </a:pPr>
            <a:r>
              <a:rPr lang="pt-PT" sz="1100" i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e API partilham os mesmos modelos (common/models)</a:t>
            </a:r>
          </a:p>
        </p:txBody>
      </p:sp>
      <p:cxnSp>
        <p:nvCxnSpPr>
          <p:cNvPr id="116" name="Connector 116"/>
          <p:cNvCxnSpPr/>
          <p:nvPr/>
        </p:nvCxnSpPr>
        <p:spPr>
          <a:xfrm>
            <a:off x="5715000" y="4389120"/>
            <a:ext cx="548640" cy="0"/>
          </a:xfrm>
          <a:prstGeom prst="straightConnector1">
            <a:avLst/>
          </a:prstGeom>
          <a:ln w="29210">
            <a:solidFill>
              <a:srgbClr val="11A89B"/>
            </a:solidFill>
            <a:prstDash val="solid"/>
            <a:headEnd type="triangle"/>
            <a:tailEnd type="none"/>
          </a:ln>
        </p:spPr>
      </p:cxnSp>
      <p:sp>
        <p:nvSpPr>
          <p:cNvPr id="117" name="Text 117"/>
          <p:cNvSpPr txBox="1"/>
          <p:nvPr/>
        </p:nvSpPr>
        <p:spPr>
          <a:xfrm>
            <a:off x="5715000" y="4089120"/>
            <a:ext cx="54864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0"/>
              </a:spcAft>
              <a:buNone/>
            </a:pPr>
            <a:r>
              <a:rPr lang="pt-PT" sz="1000" b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</a:t>
            </a:r>
          </a:p>
        </p:txBody>
      </p:sp>
      <p:cxnSp>
        <p:nvCxnSpPr>
          <p:cNvPr id="118" name="Connector 118"/>
          <p:cNvCxnSpPr/>
          <p:nvPr/>
        </p:nvCxnSpPr>
        <p:spPr>
          <a:xfrm>
            <a:off x="4617720" y="3291840"/>
            <a:ext cx="0" cy="502920"/>
          </a:xfrm>
          <a:prstGeom prst="straightConnector1">
            <a:avLst/>
          </a:prstGeom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</p:cxnSp>
      <p:sp>
        <p:nvSpPr>
          <p:cNvPr id="119" name="Text 119"/>
          <p:cNvSpPr txBox="1"/>
          <p:nvPr/>
        </p:nvSpPr>
        <p:spPr>
          <a:xfrm>
            <a:off x="4709160" y="3429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marL="0" indent="0">
              <a:spcAft>
                <a:spcPts val="0"/>
              </a:spcAft>
              <a:buNone/>
            </a:pPr>
            <a:r>
              <a:rPr lang="pt-PT" sz="1000" b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</a:t>
            </a:r>
          </a:p>
        </p:txBody>
      </p:sp>
      <p:sp>
        <p:nvSpPr>
          <p:cNvPr id="120" name="Shape 120"/>
          <p:cNvSpPr/>
          <p:nvPr/>
        </p:nvSpPr>
        <p:spPr>
          <a:xfrm>
            <a:off x="566928" y="2103120"/>
            <a:ext cx="2148840" cy="2880360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656928" y="2273120"/>
            <a:ext cx="1968840" cy="2540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300"/>
              </a:spcAft>
              <a:buNone/>
            </a:pPr>
            <a:r>
              <a:rPr lang="pt-PT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lang="pt-PT" sz="1100" dirty="0">
                <a:solidFill>
                  <a:srgbClr val="DCE6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 e coordenador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566928" y="5074920"/>
            <a:ext cx="214884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 marL="0" indent="0">
              <a:spcAft>
                <a:spcPts val="0"/>
              </a:spcAft>
              <a:buNone/>
            </a:pPr>
            <a:r>
              <a:rPr lang="pt-PT" sz="11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AMSI</a:t>
            </a:r>
          </a:p>
        </p:txBody>
      </p:sp>
      <p:cxnSp>
        <p:nvCxnSpPr>
          <p:cNvPr id="123" name="Connector 123"/>
          <p:cNvCxnSpPr/>
          <p:nvPr/>
        </p:nvCxnSpPr>
        <p:spPr>
          <a:xfrm>
            <a:off x="2715768" y="2697480"/>
            <a:ext cx="804672" cy="0"/>
          </a:xfrm>
          <a:prstGeom prst="straightConnector1">
            <a:avLst/>
          </a:prstGeom>
          <a:ln w="29210">
            <a:solidFill>
              <a:srgbClr val="11A89B"/>
            </a:solidFill>
            <a:prstDash val="solid"/>
            <a:headEnd type="triangle"/>
            <a:tailEnd type="triangle"/>
          </a:ln>
        </p:spPr>
      </p:cxnSp>
      <p:sp>
        <p:nvSpPr>
          <p:cNvPr id="124" name="Text 124"/>
          <p:cNvSpPr txBox="1"/>
          <p:nvPr/>
        </p:nvSpPr>
        <p:spPr>
          <a:xfrm>
            <a:off x="2715768" y="2397480"/>
            <a:ext cx="804672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0"/>
              </a:spcAft>
              <a:buNone/>
            </a:pPr>
            <a:r>
              <a:rPr lang="pt-PT" sz="1000" b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</a:t>
            </a:r>
          </a:p>
        </p:txBody>
      </p:sp>
      <p:cxnSp>
        <p:nvCxnSpPr>
          <p:cNvPr id="125" name="Connector 125"/>
          <p:cNvCxnSpPr/>
          <p:nvPr/>
        </p:nvCxnSpPr>
        <p:spPr>
          <a:xfrm>
            <a:off x="2715768" y="4389120"/>
            <a:ext cx="804672" cy="0"/>
          </a:xfrm>
          <a:prstGeom prst="straightConnector1">
            <a:avLst/>
          </a:prstGeom>
          <a:ln w="29210">
            <a:solidFill>
              <a:srgbClr val="11A89B"/>
            </a:solidFill>
            <a:prstDash val="solid"/>
            <a:headEnd type="triangle"/>
            <a:tailEnd type="none"/>
          </a:ln>
        </p:spPr>
      </p:cxnSp>
      <p:sp>
        <p:nvSpPr>
          <p:cNvPr id="126" name="Text 126"/>
          <p:cNvSpPr txBox="1"/>
          <p:nvPr/>
        </p:nvSpPr>
        <p:spPr>
          <a:xfrm>
            <a:off x="2715768" y="4089120"/>
            <a:ext cx="804672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0"/>
              </a:spcAft>
              <a:buNone/>
            </a:pPr>
            <a:r>
              <a:rPr lang="pt-PT" sz="1000" b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subscreve</a:t>
            </a:r>
          </a:p>
        </p:txBody>
      </p:sp>
      <p:sp>
        <p:nvSpPr>
          <p:cNvPr id="127" name="Shape 127"/>
          <p:cNvSpPr/>
          <p:nvPr/>
        </p:nvSpPr>
        <p:spPr>
          <a:xfrm>
            <a:off x="9235440" y="3314700"/>
            <a:ext cx="2395728" cy="1051560"/>
          </a:xfrm>
          <a:prstGeom prst="roundRect">
            <a:avLst>
              <a:gd name="adj" fmla="val 8784"/>
            </a:avLst>
          </a:prstGeom>
          <a:solidFill>
            <a:srgbClr val="11A89B"/>
          </a:solidFill>
          <a:ln>
            <a:noFill/>
          </a:ln>
        </p:spPr>
      </p:sp>
      <p:sp>
        <p:nvSpPr>
          <p:cNvPr id="128" name="Text 128"/>
          <p:cNvSpPr txBox="1"/>
          <p:nvPr/>
        </p:nvSpPr>
        <p:spPr>
          <a:xfrm>
            <a:off x="9325440" y="3484700"/>
            <a:ext cx="2215728" cy="71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spcAft>
                <a:spcPts val="300"/>
              </a:spcAft>
              <a:buNone/>
            </a:pPr>
            <a:r>
              <a:rPr lang="pt-PT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dados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lang="pt-PT" sz="1100" dirty="0">
                <a:solidFill>
                  <a:srgbClr val="E3F7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MySQL (única)</a:t>
            </a:r>
          </a:p>
        </p:txBody>
      </p:sp>
      <p:cxnSp>
        <p:nvCxnSpPr>
          <p:cNvPr id="129" name="Connector 129"/>
          <p:cNvCxnSpPr/>
          <p:nvPr/>
        </p:nvCxnSpPr>
        <p:spPr>
          <a:xfrm>
            <a:off x="8778240" y="3840480"/>
            <a:ext cx="457200" cy="0"/>
          </a:xfrm>
          <a:prstGeom prst="straightConnector1">
            <a:avLst/>
          </a:prstGeom>
          <a:ln w="29210">
            <a:solidFill>
              <a:srgbClr val="11A89B"/>
            </a:solidFill>
            <a:prstDash val="solid"/>
            <a:headEnd type="triangle"/>
            <a:tailEnd type="triangl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Planeamento e responsabilidades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Tarefas por elemento do grupo, geridas no Jira em sprints quinzenais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264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12648" y="1417320"/>
            <a:ext cx="59436" cy="3246120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79552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Leonardo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Manutenção e orçamentos de compra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Administração: utilizadores, parâmetros e logs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projeto Yii2, RBAC, migrações e modelos</a:t>
            </a:r>
          </a:p>
        </p:txBody>
      </p:sp>
      <p:sp>
        <p:nvSpPr>
          <p:cNvPr id="12" name="Shape 10"/>
          <p:cNvSpPr/>
          <p:nvPr/>
        </p:nvSpPr>
        <p:spPr>
          <a:xfrm>
            <a:off x="436168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361688" y="1417320"/>
            <a:ext cx="59436" cy="3246120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4456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Valter Beca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4456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Android: check-in/out, faturas e QR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Autenticação e notificações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 de pedidos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mockups e layout Android</a:t>
            </a:r>
          </a:p>
        </p:txBody>
      </p:sp>
      <p:sp>
        <p:nvSpPr>
          <p:cNvPr id="16" name="Shape 14"/>
          <p:cNvSpPr/>
          <p:nvPr/>
        </p:nvSpPr>
        <p:spPr>
          <a:xfrm>
            <a:off x="8101584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59436" cy="324612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284464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Gustavo Biazini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84464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do colaborador: catálogo, pedido e histórico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Frota: viaturas, condutores e documentos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user stories e registo no Jira</a:t>
            </a:r>
          </a:p>
        </p:txBody>
      </p:sp>
      <p:sp>
        <p:nvSpPr>
          <p:cNvPr id="20" name="Shape 18"/>
          <p:cNvSpPr/>
          <p:nvPr/>
        </p:nvSpPr>
        <p:spPr>
          <a:xfrm>
            <a:off x="1060704" y="5093208"/>
            <a:ext cx="10058400" cy="960120"/>
          </a:xfrm>
          <a:prstGeom prst="roundRect">
            <a:avLst>
              <a:gd name="adj" fmla="val 19048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1344168" y="5312664"/>
            <a:ext cx="9418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 1 (AMSI): 07/11   •   Deploy 1: 16–20/11   •   Deploy 2: 14–18/12</a:t>
            </a:r>
          </a:p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3: 11–16/01   •   Entrega final: 16/01 a 06/02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41248" y="13167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24128" y="233172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gestão de frota mais simples, organizada e digital.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84064" y="3419856"/>
            <a:ext cx="2011680" cy="59436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286000" y="4105656"/>
            <a:ext cx="7626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Obrigado!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2926080" y="5010912"/>
            <a:ext cx="6355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Questões?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671</Words>
  <Application>Microsoft Office PowerPoint</Application>
  <PresentationFormat>Ecrã Panorâmico</PresentationFormat>
  <Paragraphs>161</Paragraphs>
  <Slides>14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17" baseType="lpstr">
      <vt:lpstr>Aptos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FrotaGest — Sistema de Gestão e Requisição de Frota</dc:title>
  <dc:subject>Apresentação do sistema FrotaGest</dc:subject>
  <dc:creator>Projeto FrotaGest</dc:creator>
  <cp:lastModifiedBy>Gustavo Boiça Biazini</cp:lastModifiedBy>
  <cp:revision>4</cp:revision>
  <dcterms:created xsi:type="dcterms:W3CDTF">2026-10-20T18:30:15Z</dcterms:created>
  <dcterms:modified xsi:type="dcterms:W3CDTF">2026-10-27T19:46:45Z</dcterms:modified>
</cp:coreProperties>
</file>